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b07c88-a90d-c3fe-9b43-0cd16d92404f}">
          <p14:sldIdLst>
            <p14:sldId id="256"/>
          </p14:sldIdLst>
        </p14:section>
        <p14:section name="Problem and data" id="{abbca7b5-f5b5-4f17-e2c3-71c78b86ab87}">
          <p14:sldIdLst>
            <p14:sldId id="257"/>
          </p14:sldIdLst>
        </p14:section>
        <p14:section name="Method" id="{a2b517e6-b203-c1d2-f6b2-7b775ba7f82c}">
          <p14:sldIdLst>
            <p14:sldId id="258"/>
            <p14:sldId id="259"/>
            <p14:sldId id="260"/>
            <p14:sldId id="261"/>
          </p14:sldIdLst>
        </p14:section>
        <p14:section name="Results" id="{54eeac94-1e0a-efe8-00a5-0bd186041c9c}">
          <p14:sldIdLst>
            <p14:sldId id="262"/>
            <p14:sldId id="263"/>
            <p14:sldId id="264"/>
          </p14:sldIdLst>
        </p14:section>
        <p14:section name="Discussion" id="{3689c160-f468-e986-70af-67c14c3fa17f}">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Thiago. Introduce the team and the goal: predict tomorrow's maximum and minimum temperature and tomorrow's weather condition in Macau, using only information available today. Suggested split: Thiago slides 1-4, Marcelo 5-8, João 9-11.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specification recommends Visual Crossing, but the downloaded file had only 15 rows with future dates: it was the default 15-day forecast. We downloaded 12 years of daily ERA5 reanalysis from Open-Meteo instead and mapped it to the same column names, so the code works with either source. The quality audit found no duplicates, gaps or impossible values, so no cleaning step was needed. Extreme gusts were kept because they are real typhoons such as Mangkhut and Hato.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only shows the analysis steps; all reusable functions live in weather_utils.py, grouped into data, quality, features, models and evaluation. The pipeline goes from data collection to a single final test. Every refactoring was checked by comparing the result tables before and after, which had to stay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shaped the modelling. Temperature changes slowly: today's maximum correlates 0.93 with tomorrow's, so simply repeating today is already a strong forecast. There is a strong annual cycle, with rain dominating the summer monsoon, which motivates seasonal features. And the classes are imbalanced, with Rain on 48% of days, so we use macro F1 rather than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Marcelo. To predict tomorrow we may only use what is known at the end of today. Lags and differences capture the trend, rolling means the recent regime, sine and cosine encodings the season, and today's class gives the classifier persistence. Automatic checks confirm there is no leakage. The day of the week was tested and dropped because it varies Tmax by less than 0.2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uses 2014 to 2021, validation 2022 to 2023 and test 2024 to 2025, split by the date being predicted. Hyperparameters are tuned with a grid search over five time-ordered folds: each fold fits on the past and scores the period after it, with a one-day gap. The test set is used exactly once, and a block bootstrap tells us whether differences against persistence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nine regressors; the axis starts at 0.9 °C to make the differences visible. Gradient boosting, Ridge and plain linear regression are practically tied, which tells us the relation is close to linear once the features are good. Grid search did not improve the best model, but averaging the three best models, which mix boosted trees with linear models, lowered validation MAE to 1.011 °C. The same procedure for Tmin selected an ensemble of three tree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2024-2025 test set the ensemble cuts the error by 19% for the maximum and 11% for the minimum, and the bootstrap intervals exclude zero, so the gains are real. Most of the improvement is in winter, when cold fronts cause sudden drops: the error for Tmax goes from 1.91 to 1.43 °C. In summer the weather is stable and persistence is already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João. For the four-class problem the soft-voting ensemble of extra trees, random forest and logistic regression reaches a macro F1 of 0.501 against 0.489 for persistence, but the bootstrap interval includes zero, so we do not claim an improvement. Rain is easy; the three dry classes are separated by arbitrary cloud thresholds and get mixed up. Where the model does help is the probability of rain: AUC 0.88 and a Brier score 37% better than climatology.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comparing many model families mattered more than tuning, averaging different families helped, and the features did the heavy lifting. The main limitation is that we look at a single grid point, so systems approaching from elsewhere are invisible. The model should always be presented with its uncertainty and never replace official SMG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with careful features and a wide model comparison we reduced temperature errors by 11 to 19 percent with statistical significance, while the four-class condition stayed close to persistence. Next steps would be adding neighbouring stations and hourly data, and producing probabilistic forecasts.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223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035040" cy="13716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640080" y="2926080"/>
            <a:ext cx="5669280" cy="731520"/>
          </a:xfrm>
          <a:prstGeom prst="rect">
            <a:avLst/>
          </a:prstGeom>
          <a:noFill/>
          <a:ln/>
        </p:spPr>
        <p:txBody>
          <a:bodyPr wrap="square" rtlCol="0"/>
          <a:lstStyle>
            <a:lvl1pPr algn="l" indent="0" marL="0">
              <a:buNone/>
              <a:defRPr lang="en-US" sz="1600" dirty="0">
                <a:solidFill>
                  <a:srgbClr val="B8C7D6"/>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8046720" cy="548640"/>
          </a:xfrm>
          <a:prstGeom prst="rect">
            <a:avLst/>
          </a:prstGeom>
          <a:noFill/>
          <a:ln/>
        </p:spPr>
        <p:txBody>
          <a:bodyPr wrap="square" rtlCol="0"/>
          <a:lstStyle>
            <a:lvl1pPr algn="l" indent="0" marL="0">
              <a:buNone/>
              <a:defRPr lang="en-US" sz="2600" b="1" dirty="0">
                <a:solidFill>
                  <a:srgbClr val="0B2239"/>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AB5C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AB5C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69280" y="822960"/>
            <a:ext cx="3291840" cy="2377440"/>
          </a:xfrm>
          <a:prstGeom prst="rect">
            <a:avLst/>
          </a:prstGeom>
          <a:noFill/>
          <a:ln/>
        </p:spPr>
        <p:txBody>
          <a:bodyPr wrap="square" lIns="0" tIns="0" rIns="0" bIns="0" rtlCol="0" anchor="ctr"/>
          <a:lstStyle/>
          <a:p>
            <a:pPr algn="r" indent="0" marL="0">
              <a:buNone/>
            </a:pPr>
            <a:r>
              <a:rPr lang="en-US" sz="15000" b="1" dirty="0">
                <a:solidFill>
                  <a:srgbClr val="16314F"/>
                </a:solidFill>
              </a:rPr>
              <a:t>t+1</a:t>
            </a:r>
            <a:endParaRPr lang="en-US" sz="15000" dirty="0"/>
          </a:p>
        </p:txBody>
      </p:sp>
      <p:sp>
        <p:nvSpPr>
          <p:cNvPr id="3" name="Text 1"/>
          <p:cNvSpPr txBox="1"/>
          <p:nvPr/>
        </p:nvSpPr>
        <p:spPr>
          <a:xfrm>
            <a:off x="640080" y="1051560"/>
            <a:ext cx="5486400" cy="274320"/>
          </a:xfrm>
          <a:prstGeom prst="rect">
            <a:avLst/>
          </a:prstGeom>
          <a:noFill/>
          <a:ln/>
        </p:spPr>
        <p:txBody>
          <a:bodyPr wrap="square" lIns="0" tIns="0" rIns="0" bIns="0" rtlCol="0" anchor="t"/>
          <a:lstStyle/>
          <a:p>
            <a:pPr indent="0" marL="0">
              <a:buNone/>
            </a:pPr>
            <a:r>
              <a:rPr lang="en-US" sz="1100" b="1" spc="300" kern="0" dirty="0">
                <a:solidFill>
                  <a:srgbClr val="A9C8EE"/>
                </a:solidFill>
              </a:rPr>
              <a:t>CSAI3121 · GROUP PROJECT</a:t>
            </a:r>
            <a:endParaRPr lang="en-US" sz="1100" dirty="0"/>
          </a:p>
        </p:txBody>
      </p:sp>
      <p:sp>
        <p:nvSpPr>
          <p:cNvPr id="4" name="Text 0"/>
          <p:cNvSpPr/>
          <p:nvPr>
            <p:ph idx="100" type="title" hasCustomPrompt="1"/>
          </p:nvPr>
        </p:nvSpPr>
        <p:spPr>
          <a:xfrm>
            <a:off x="640080" y="1417320"/>
            <a:ext cx="6035040" cy="1371600"/>
          </a:xfrm>
          <a:prstGeom prst="rect">
            <a:avLst/>
          </a:prstGeom>
          <a:noFill/>
          <a:ln/>
        </p:spPr>
        <p:txBody>
          <a:bodyPr wrap="square" lIns="0" tIns="0" rIns="0" bIns="0" rtlCol="0" anchor="b"/>
          <a:lstStyle/>
          <a:p>
            <a:pPr algn="l" indent="0" marL="0">
              <a:buNone/>
            </a:pPr>
            <a:r>
              <a:rPr lang="en-US" sz="4000" b="1" dirty="0">
                <a:solidFill>
                  <a:srgbClr val="FFFFFF"/>
                </a:solidFill>
              </a:rPr>
              <a:t>Next-Day Weather Prediction for Macau</a:t>
            </a:r>
            <a:endParaRPr lang="en-US" sz="4000" dirty="0"/>
          </a:p>
        </p:txBody>
      </p:sp>
      <p:sp>
        <p:nvSpPr>
          <p:cNvPr id="5" name="Text 0"/>
          <p:cNvSpPr/>
          <p:nvPr>
            <p:ph idx="101" type="body" hasCustomPrompt="1"/>
          </p:nvPr>
        </p:nvSpPr>
        <p:spPr>
          <a:xfrm>
            <a:off x="640080" y="2926080"/>
            <a:ext cx="5669280" cy="731520"/>
          </a:xfrm>
          <a:prstGeom prst="rect">
            <a:avLst/>
          </a:prstGeom>
          <a:noFill/>
          <a:ln/>
        </p:spPr>
        <p:txBody>
          <a:bodyPr wrap="square" lIns="0" tIns="0" rIns="0" bIns="0" rtlCol="0" anchor="t"/>
          <a:lstStyle/>
          <a:p>
            <a:pPr algn="l" indent="0" marL="0">
              <a:buNone/>
            </a:pPr>
            <a:r>
              <a:rPr lang="en-US" sz="1600" dirty="0">
                <a:solidFill>
                  <a:srgbClr val="B8C7D6"/>
                </a:solidFill>
              </a:rPr>
              <a:t>Forecasting tomorrow's temperature and weather condition with machine learning</a:t>
            </a:r>
            <a:endParaRPr lang="en-US" sz="1600" dirty="0"/>
          </a:p>
        </p:txBody>
      </p:sp>
      <p:sp>
        <p:nvSpPr>
          <p:cNvPr id="6" name="title-rule"/>
          <p:cNvSpPr/>
          <p:nvPr/>
        </p:nvSpPr>
        <p:spPr>
          <a:xfrm>
            <a:off x="640080" y="4069080"/>
            <a:ext cx="7863840" cy="0"/>
          </a:xfrm>
          <a:prstGeom prst="line">
            <a:avLst/>
          </a:prstGeom>
          <a:noFill/>
          <a:ln w="12700">
            <a:solidFill>
              <a:srgbClr val="23405F"/>
            </a:solidFill>
            <a:prstDash val="solid"/>
          </a:ln>
        </p:spPr>
      </p:sp>
      <p:sp>
        <p:nvSpPr>
          <p:cNvPr id="7" name="Text 5"/>
          <p:cNvSpPr txBox="1"/>
          <p:nvPr/>
        </p:nvSpPr>
        <p:spPr>
          <a:xfrm>
            <a:off x="640080" y="4206240"/>
            <a:ext cx="7863840" cy="274320"/>
          </a:xfrm>
          <a:prstGeom prst="rect">
            <a:avLst/>
          </a:prstGeom>
          <a:noFill/>
          <a:ln/>
        </p:spPr>
        <p:txBody>
          <a:bodyPr wrap="square" lIns="0" tIns="0" rIns="0" bIns="0" rtlCol="0" anchor="t"/>
          <a:lstStyle/>
          <a:p>
            <a:pPr indent="0" marL="0">
              <a:buNone/>
            </a:pPr>
            <a:r>
              <a:rPr lang="en-US" sz="1300" dirty="0">
                <a:solidFill>
                  <a:srgbClr val="FFFFFF"/>
                </a:solidFill>
              </a:rPr>
              <a:t>Thiago Honorato Ferreira  ·  Marcelo Oliveira Volpato  ·  João Vitor Konrad</a:t>
            </a:r>
            <a:endParaRPr lang="en-US" sz="1300" dirty="0"/>
          </a:p>
        </p:txBody>
      </p:sp>
      <p:sp>
        <p:nvSpPr>
          <p:cNvPr id="8" name="Text 6"/>
          <p:cNvSpPr txBox="1"/>
          <p:nvPr/>
        </p:nvSpPr>
        <p:spPr>
          <a:xfrm>
            <a:off x="640080" y="4498848"/>
            <a:ext cx="5943600" cy="274320"/>
          </a:xfrm>
          <a:prstGeom prst="rect">
            <a:avLst/>
          </a:prstGeom>
          <a:noFill/>
          <a:ln/>
        </p:spPr>
        <p:txBody>
          <a:bodyPr wrap="square" lIns="0" tIns="0" rIns="0" bIns="0" rtlCol="0" anchor="t"/>
          <a:lstStyle/>
          <a:p>
            <a:pPr indent="0" marL="0">
              <a:buNone/>
            </a:pPr>
            <a:r>
              <a:rPr lang="en-US" sz="1100" dirty="0">
                <a:solidFill>
                  <a:srgbClr val="8EA3B8"/>
                </a:solidFill>
              </a:rPr>
              <a:t>Macao Polytechnic University  ·  November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000" b="1" spc="300" kern="0" dirty="0">
                <a:solidFill>
                  <a:srgbClr val="2A78D6"/>
                </a:solidFill>
              </a:rPr>
              <a:t>PROBLEM AND DATA</a:t>
            </a:r>
            <a:endParaRPr lang="en-US" sz="10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600" b="1" dirty="0">
                <a:solidFill>
                  <a:srgbClr val="0B2239"/>
                </a:solidFill>
              </a:rPr>
              <a:t>Two tasks, one day ahead</a:t>
            </a:r>
            <a:endParaRPr lang="en-US" sz="2600" dirty="0"/>
          </a:p>
        </p:txBody>
      </p:sp>
      <p:sp>
        <p:nvSpPr>
          <p:cNvPr id="4" name="Text 2"/>
          <p:cNvSpPr txBox="1"/>
          <p:nvPr/>
        </p:nvSpPr>
        <p:spPr>
          <a:xfrm>
            <a:off x="548640" y="1417320"/>
            <a:ext cx="548640" cy="365760"/>
          </a:xfrm>
          <a:prstGeom prst="rect">
            <a:avLst/>
          </a:prstGeom>
          <a:noFill/>
          <a:ln/>
        </p:spPr>
        <p:txBody>
          <a:bodyPr wrap="square" lIns="0" tIns="0" rIns="0" bIns="0" rtlCol="0" anchor="t"/>
          <a:lstStyle/>
          <a:p>
            <a:pPr indent="0" marL="0">
              <a:buNone/>
            </a:pPr>
            <a:r>
              <a:rPr lang="en-US" sz="1800" b="1" dirty="0">
                <a:solidFill>
                  <a:srgbClr val="EB6834"/>
                </a:solidFill>
              </a:rPr>
              <a:t>01</a:t>
            </a:r>
            <a:endParaRPr lang="en-US" sz="1800" dirty="0"/>
          </a:p>
        </p:txBody>
      </p:sp>
      <p:sp>
        <p:nvSpPr>
          <p:cNvPr id="5" name="Text 3"/>
          <p:cNvSpPr txBox="1"/>
          <p:nvPr/>
        </p:nvSpPr>
        <p:spPr>
          <a:xfrm>
            <a:off x="1097280" y="1417320"/>
            <a:ext cx="3108960" cy="365760"/>
          </a:xfrm>
          <a:prstGeom prst="rect">
            <a:avLst/>
          </a:prstGeom>
          <a:noFill/>
          <a:ln/>
        </p:spPr>
        <p:txBody>
          <a:bodyPr wrap="square" lIns="0" tIns="0" rIns="0" bIns="0" rtlCol="0" anchor="t"/>
          <a:lstStyle/>
          <a:p>
            <a:pPr indent="0" marL="0">
              <a:buNone/>
            </a:pPr>
            <a:r>
              <a:rPr lang="en-US" sz="1800" b="1" dirty="0">
                <a:solidFill>
                  <a:srgbClr val="0B2239"/>
                </a:solidFill>
              </a:rPr>
              <a:t>Regression</a:t>
            </a:r>
            <a:endParaRPr lang="en-US" sz="1800" dirty="0"/>
          </a:p>
        </p:txBody>
      </p:sp>
      <p:sp>
        <p:nvSpPr>
          <p:cNvPr id="6" name="Text 4"/>
          <p:cNvSpPr txBox="1"/>
          <p:nvPr/>
        </p:nvSpPr>
        <p:spPr>
          <a:xfrm>
            <a:off x="1097280" y="1801368"/>
            <a:ext cx="3017520" cy="548640"/>
          </a:xfrm>
          <a:prstGeom prst="rect">
            <a:avLst/>
          </a:prstGeom>
          <a:noFill/>
          <a:ln/>
        </p:spPr>
        <p:txBody>
          <a:bodyPr wrap="square" lIns="0" tIns="0" rIns="0" bIns="0" rtlCol="0" anchor="t"/>
          <a:lstStyle/>
          <a:p>
            <a:pPr indent="0" marL="0">
              <a:buNone/>
            </a:pPr>
            <a:r>
              <a:rPr lang="en-US" sz="1300" dirty="0">
                <a:solidFill>
                  <a:srgbClr val="667788"/>
                </a:solidFill>
              </a:rPr>
              <a:t>Tomorrow's maximum and minimum temperature (°C), one model each</a:t>
            </a:r>
            <a:endParaRPr lang="en-US" sz="1300" dirty="0"/>
          </a:p>
        </p:txBody>
      </p:sp>
      <p:sp>
        <p:nvSpPr>
          <p:cNvPr id="7" name="Text 5"/>
          <p:cNvSpPr txBox="1"/>
          <p:nvPr/>
        </p:nvSpPr>
        <p:spPr>
          <a:xfrm>
            <a:off x="1097280" y="2331720"/>
            <a:ext cx="3017520" cy="274320"/>
          </a:xfrm>
          <a:prstGeom prst="rect">
            <a:avLst/>
          </a:prstGeom>
          <a:noFill/>
          <a:ln/>
        </p:spPr>
        <p:txBody>
          <a:bodyPr wrap="square" lIns="0" tIns="0" rIns="0" bIns="0" rtlCol="0" anchor="t"/>
          <a:lstStyle/>
          <a:p>
            <a:pPr indent="0" marL="0">
              <a:buNone/>
            </a:pPr>
            <a:r>
              <a:rPr lang="en-US" sz="1100" b="1" dirty="0">
                <a:solidFill>
                  <a:srgbClr val="EB6834"/>
                </a:solidFill>
              </a:rPr>
              <a:t>Metric: MAE</a:t>
            </a:r>
            <a:endParaRPr lang="en-US" sz="1100" dirty="0"/>
          </a:p>
        </p:txBody>
      </p:sp>
      <p:sp>
        <p:nvSpPr>
          <p:cNvPr id="8" name="Text 6"/>
          <p:cNvSpPr txBox="1"/>
          <p:nvPr/>
        </p:nvSpPr>
        <p:spPr>
          <a:xfrm>
            <a:off x="548640" y="2880360"/>
            <a:ext cx="548640" cy="365760"/>
          </a:xfrm>
          <a:prstGeom prst="rect">
            <a:avLst/>
          </a:prstGeom>
          <a:noFill/>
          <a:ln/>
        </p:spPr>
        <p:txBody>
          <a:bodyPr wrap="square" lIns="0" tIns="0" rIns="0" bIns="0" rtlCol="0" anchor="t"/>
          <a:lstStyle/>
          <a:p>
            <a:pPr indent="0" marL="0">
              <a:buNone/>
            </a:pPr>
            <a:r>
              <a:rPr lang="en-US" sz="1800" b="1" dirty="0">
                <a:solidFill>
                  <a:srgbClr val="2A78D6"/>
                </a:solidFill>
              </a:rPr>
              <a:t>02</a:t>
            </a:r>
            <a:endParaRPr lang="en-US" sz="1800" dirty="0"/>
          </a:p>
        </p:txBody>
      </p:sp>
      <p:sp>
        <p:nvSpPr>
          <p:cNvPr id="9" name="Text 7"/>
          <p:cNvSpPr txBox="1"/>
          <p:nvPr/>
        </p:nvSpPr>
        <p:spPr>
          <a:xfrm>
            <a:off x="1097280" y="2880360"/>
            <a:ext cx="3108960" cy="365760"/>
          </a:xfrm>
          <a:prstGeom prst="rect">
            <a:avLst/>
          </a:prstGeom>
          <a:noFill/>
          <a:ln/>
        </p:spPr>
        <p:txBody>
          <a:bodyPr wrap="square" lIns="0" tIns="0" rIns="0" bIns="0" rtlCol="0" anchor="t"/>
          <a:lstStyle/>
          <a:p>
            <a:pPr indent="0" marL="0">
              <a:buNone/>
            </a:pPr>
            <a:r>
              <a:rPr lang="en-US" sz="1800" b="1" dirty="0">
                <a:solidFill>
                  <a:srgbClr val="0B2239"/>
                </a:solidFill>
              </a:rPr>
              <a:t>Classification</a:t>
            </a:r>
            <a:endParaRPr lang="en-US" sz="1800" dirty="0"/>
          </a:p>
        </p:txBody>
      </p:sp>
      <p:sp>
        <p:nvSpPr>
          <p:cNvPr id="10" name="Text 8"/>
          <p:cNvSpPr txBox="1"/>
          <p:nvPr/>
        </p:nvSpPr>
        <p:spPr>
          <a:xfrm>
            <a:off x="1097280" y="3264408"/>
            <a:ext cx="3017520" cy="548640"/>
          </a:xfrm>
          <a:prstGeom prst="rect">
            <a:avLst/>
          </a:prstGeom>
          <a:noFill/>
          <a:ln/>
        </p:spPr>
        <p:txBody>
          <a:bodyPr wrap="square" lIns="0" tIns="0" rIns="0" bIns="0" rtlCol="0" anchor="t"/>
          <a:lstStyle/>
          <a:p>
            <a:pPr indent="0" marL="0">
              <a:buNone/>
            </a:pPr>
            <a:r>
              <a:rPr lang="en-US" sz="1300" dirty="0">
                <a:solidFill>
                  <a:srgbClr val="667788"/>
                </a:solidFill>
              </a:rPr>
              <a:t>Tomorrow's condition: Clear, Partly Cloudy, Cloudy or Rain</a:t>
            </a:r>
            <a:endParaRPr lang="en-US" sz="1300" dirty="0"/>
          </a:p>
        </p:txBody>
      </p:sp>
      <p:sp>
        <p:nvSpPr>
          <p:cNvPr id="11" name="Text 9"/>
          <p:cNvSpPr txBox="1"/>
          <p:nvPr/>
        </p:nvSpPr>
        <p:spPr>
          <a:xfrm>
            <a:off x="1097280" y="3794760"/>
            <a:ext cx="3017520" cy="274320"/>
          </a:xfrm>
          <a:prstGeom prst="rect">
            <a:avLst/>
          </a:prstGeom>
          <a:noFill/>
          <a:ln/>
        </p:spPr>
        <p:txBody>
          <a:bodyPr wrap="square" lIns="0" tIns="0" rIns="0" bIns="0" rtlCol="0" anchor="t"/>
          <a:lstStyle/>
          <a:p>
            <a:pPr indent="0" marL="0">
              <a:buNone/>
            </a:pPr>
            <a:r>
              <a:rPr lang="en-US" sz="1100" b="1" dirty="0">
                <a:solidFill>
                  <a:srgbClr val="2A78D6"/>
                </a:solidFill>
              </a:rPr>
              <a:t>Metric: Macro F1</a:t>
            </a:r>
            <a:endParaRPr lang="en-US" sz="1100" dirty="0"/>
          </a:p>
        </p:txBody>
      </p:sp>
      <p:sp>
        <p:nvSpPr>
          <p:cNvPr id="12" name="divider"/>
          <p:cNvSpPr/>
          <p:nvPr/>
        </p:nvSpPr>
        <p:spPr>
          <a:xfrm>
            <a:off x="4572000" y="1417320"/>
            <a:ext cx="18288" cy="3017520"/>
          </a:xfrm>
          <a:prstGeom prst="rect">
            <a:avLst/>
          </a:prstGeom>
          <a:solidFill>
            <a:srgbClr val="E2E8EE"/>
          </a:solidFill>
          <a:ln w="12700">
            <a:solidFill>
              <a:srgbClr val="E2E8EE"/>
            </a:solidFill>
            <a:prstDash val="solid"/>
          </a:ln>
        </p:spPr>
      </p:sp>
      <p:sp>
        <p:nvSpPr>
          <p:cNvPr id="13" name="Text 11"/>
          <p:cNvSpPr txBox="1"/>
          <p:nvPr/>
        </p:nvSpPr>
        <p:spPr>
          <a:xfrm>
            <a:off x="4937760" y="1417320"/>
            <a:ext cx="3657600" cy="274320"/>
          </a:xfrm>
          <a:prstGeom prst="rect">
            <a:avLst/>
          </a:prstGeom>
          <a:noFill/>
          <a:ln/>
        </p:spPr>
        <p:txBody>
          <a:bodyPr wrap="square" lIns="0" tIns="0" rIns="0" bIns="0" rtlCol="0" anchor="t"/>
          <a:lstStyle/>
          <a:p>
            <a:pPr indent="0" marL="0">
              <a:buNone/>
            </a:pPr>
            <a:r>
              <a:rPr lang="en-US" sz="1200" b="1" dirty="0">
                <a:solidFill>
                  <a:srgbClr val="667788"/>
                </a:solidFill>
              </a:rPr>
              <a:t>Data source</a:t>
            </a:r>
            <a:endParaRPr lang="en-US" sz="1200" dirty="0"/>
          </a:p>
        </p:txBody>
      </p:sp>
      <p:sp>
        <p:nvSpPr>
          <p:cNvPr id="14" name="Text 12"/>
          <p:cNvSpPr txBox="1"/>
          <p:nvPr/>
        </p:nvSpPr>
        <p:spPr>
          <a:xfrm>
            <a:off x="4937760" y="1645920"/>
            <a:ext cx="1554480" cy="640080"/>
          </a:xfrm>
          <a:prstGeom prst="rect">
            <a:avLst/>
          </a:prstGeom>
          <a:noFill/>
          <a:ln/>
        </p:spPr>
        <p:txBody>
          <a:bodyPr wrap="square" lIns="0" tIns="0" rIns="0" bIns="0" rtlCol="0" anchor="b"/>
          <a:lstStyle/>
          <a:p>
            <a:pPr indent="0" marL="0">
              <a:buNone/>
            </a:pPr>
            <a:r>
              <a:rPr lang="en-US" sz="4400" b="1" dirty="0">
                <a:solidFill>
                  <a:srgbClr val="AAB5C0"/>
                </a:solidFill>
              </a:rPr>
              <a:t>15</a:t>
            </a:r>
            <a:endParaRPr lang="en-US" sz="4400" dirty="0"/>
          </a:p>
        </p:txBody>
      </p:sp>
      <p:sp>
        <p:nvSpPr>
          <p:cNvPr id="15" name="Text 13"/>
          <p:cNvSpPr txBox="1"/>
          <p:nvPr/>
        </p:nvSpPr>
        <p:spPr>
          <a:xfrm>
            <a:off x="4937760" y="2359152"/>
            <a:ext cx="1554480" cy="548640"/>
          </a:xfrm>
          <a:prstGeom prst="rect">
            <a:avLst/>
          </a:prstGeom>
          <a:noFill/>
          <a:ln/>
        </p:spPr>
        <p:txBody>
          <a:bodyPr wrap="square" lIns="0" tIns="0" rIns="0" bIns="0" rtlCol="0" anchor="t"/>
          <a:lstStyle/>
          <a:p>
            <a:pPr indent="0" marL="0">
              <a:buNone/>
            </a:pPr>
            <a:r>
              <a:rPr lang="en-US" sz="1200" dirty="0">
                <a:solidFill>
                  <a:srgbClr val="667788"/>
                </a:solidFill>
              </a:rPr>
              <a:t>days in the suggested Visual Crossing file: a forecast, not history</a:t>
            </a:r>
            <a:endParaRPr lang="en-US" sz="1200" dirty="0"/>
          </a:p>
        </p:txBody>
      </p:sp>
      <p:sp>
        <p:nvSpPr>
          <p:cNvPr id="16" name="Text 14"/>
          <p:cNvSpPr txBox="1"/>
          <p:nvPr/>
        </p:nvSpPr>
        <p:spPr>
          <a:xfrm>
            <a:off x="6446520" y="1828800"/>
            <a:ext cx="457200" cy="548640"/>
          </a:xfrm>
          <a:prstGeom prst="rect">
            <a:avLst/>
          </a:prstGeom>
          <a:noFill/>
          <a:ln/>
        </p:spPr>
        <p:txBody>
          <a:bodyPr wrap="square" lIns="0" tIns="0" rIns="0" bIns="0" rtlCol="0" anchor="ctr"/>
          <a:lstStyle/>
          <a:p>
            <a:pPr algn="ctr" indent="0" marL="0">
              <a:buNone/>
            </a:pPr>
            <a:r>
              <a:rPr lang="en-US" sz="3000" dirty="0">
                <a:solidFill>
                  <a:srgbClr val="AAB5C0"/>
                </a:solidFill>
              </a:rPr>
              <a:t>→</a:t>
            </a:r>
            <a:endParaRPr lang="en-US" sz="3000" dirty="0"/>
          </a:p>
        </p:txBody>
      </p:sp>
      <p:sp>
        <p:nvSpPr>
          <p:cNvPr id="17" name="Text 15"/>
          <p:cNvSpPr txBox="1"/>
          <p:nvPr/>
        </p:nvSpPr>
        <p:spPr>
          <a:xfrm>
            <a:off x="6949440" y="1645920"/>
            <a:ext cx="1737360" cy="640080"/>
          </a:xfrm>
          <a:prstGeom prst="rect">
            <a:avLst/>
          </a:prstGeom>
          <a:noFill/>
          <a:ln/>
        </p:spPr>
        <p:txBody>
          <a:bodyPr wrap="square" lIns="0" tIns="0" rIns="0" bIns="0" rtlCol="0" anchor="b"/>
          <a:lstStyle/>
          <a:p>
            <a:pPr indent="0" marL="0">
              <a:buNone/>
            </a:pPr>
            <a:r>
              <a:rPr lang="en-US" sz="4400" b="1" dirty="0">
                <a:solidFill>
                  <a:srgbClr val="2A78D6"/>
                </a:solidFill>
              </a:rPr>
              <a:t>4,383</a:t>
            </a:r>
            <a:endParaRPr lang="en-US" sz="4400" dirty="0"/>
          </a:p>
        </p:txBody>
      </p:sp>
      <p:sp>
        <p:nvSpPr>
          <p:cNvPr id="18" name="Text 16"/>
          <p:cNvSpPr txBox="1"/>
          <p:nvPr/>
        </p:nvSpPr>
        <p:spPr>
          <a:xfrm>
            <a:off x="6949440" y="2359152"/>
            <a:ext cx="1737360" cy="548640"/>
          </a:xfrm>
          <a:prstGeom prst="rect">
            <a:avLst/>
          </a:prstGeom>
          <a:noFill/>
          <a:ln/>
        </p:spPr>
        <p:txBody>
          <a:bodyPr wrap="square" lIns="0" tIns="0" rIns="0" bIns="0" rtlCol="0" anchor="t"/>
          <a:lstStyle/>
          <a:p>
            <a:pPr indent="0" marL="0">
              <a:buNone/>
            </a:pPr>
            <a:r>
              <a:rPr lang="en-US" sz="1200" dirty="0">
                <a:solidFill>
                  <a:srgbClr val="667788"/>
                </a:solidFill>
              </a:rPr>
              <a:t>days of ERA5 history from Open-Meteo, 2014–2025</a:t>
            </a:r>
            <a:endParaRPr lang="en-US" sz="1200" dirty="0"/>
          </a:p>
        </p:txBody>
      </p:sp>
      <p:sp>
        <p:nvSpPr>
          <p:cNvPr id="19" name="Text 17"/>
          <p:cNvSpPr txBox="1"/>
          <p:nvPr/>
        </p:nvSpPr>
        <p:spPr>
          <a:xfrm>
            <a:off x="4937760" y="3337560"/>
            <a:ext cx="3749040"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B2733"/>
                </a:solidFill>
              </a:rPr>
              <a:t>Same 18 columns as the Visual Crossing file</a:t>
            </a:r>
            <a:endParaRPr lang="en-US" sz="1300" dirty="0"/>
          </a:p>
          <a:p>
            <a:pPr marL="177800" indent="-177800">
              <a:spcAft>
                <a:spcPts val="500"/>
              </a:spcAft>
              <a:buSzPct val="100000"/>
              <a:buChar char="•"/>
            </a:pPr>
            <a:r>
              <a:rPr lang="en-US" sz="1300" dirty="0">
                <a:solidFill>
                  <a:srgbClr val="1B2733"/>
                </a:solidFill>
              </a:rPr>
              <a:t>Quality audit with physical rules: 0 issues</a:t>
            </a:r>
            <a:endParaRPr lang="en-US" sz="1300" dirty="0"/>
          </a:p>
          <a:p>
            <a:pPr marL="177800" indent="-177800">
              <a:spcAft>
                <a:spcPts val="500"/>
              </a:spcAft>
              <a:buSzPct val="100000"/>
              <a:buChar char="•"/>
            </a:pPr>
            <a:r>
              <a:rPr lang="en-US" sz="1300" dirty="0">
                <a:solidFill>
                  <a:srgbClr val="1B2733"/>
                </a:solidFill>
              </a:rPr>
              <a:t>Windiest days match real typhoons</a:t>
            </a:r>
            <a:endParaRPr lang="en-US" sz="1300" dirty="0"/>
          </a:p>
        </p:txBody>
      </p:sp>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AB5C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000" b="1" spc="300" kern="0" dirty="0">
                <a:solidFill>
                  <a:srgbClr val="2A78D6"/>
                </a:solidFill>
              </a:rPr>
              <a:t>METHOD</a:t>
            </a:r>
            <a:endParaRPr lang="en-US" sz="10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600" b="1" dirty="0">
                <a:solidFill>
                  <a:srgbClr val="0B2239"/>
                </a:solidFill>
              </a:rPr>
              <a:t>How the code is organised</a:t>
            </a:r>
            <a:endParaRPr lang="en-US" sz="2600" dirty="0"/>
          </a:p>
        </p:txBody>
      </p:sp>
      <p:sp>
        <p:nvSpPr>
          <p:cNvPr id="4" name="pipeline-line"/>
          <p:cNvSpPr/>
          <p:nvPr/>
        </p:nvSpPr>
        <p:spPr>
          <a:xfrm>
            <a:off x="777240" y="1627632"/>
            <a:ext cx="7589520" cy="0"/>
          </a:xfrm>
          <a:prstGeom prst="line">
            <a:avLst/>
          </a:prstGeom>
          <a:noFill/>
          <a:ln w="12700">
            <a:solidFill>
              <a:srgbClr val="E2E8EE"/>
            </a:solidFill>
            <a:prstDash val="solid"/>
          </a:ln>
        </p:spPr>
      </p:sp>
      <p:sp>
        <p:nvSpPr>
          <p:cNvPr id="5" name="step-dot-0"/>
          <p:cNvSpPr/>
          <p:nvPr/>
        </p:nvSpPr>
        <p:spPr>
          <a:xfrm>
            <a:off x="694944" y="1545336"/>
            <a:ext cx="164592" cy="164592"/>
          </a:xfrm>
          <a:prstGeom prst="ellipse">
            <a:avLst/>
          </a:prstGeom>
          <a:solidFill>
            <a:srgbClr val="2A78D6"/>
          </a:solidFill>
          <a:ln w="12700">
            <a:solidFill>
              <a:srgbClr val="2A78D6"/>
            </a:solidFill>
            <a:prstDash val="solid"/>
          </a:ln>
        </p:spPr>
      </p:sp>
      <p:sp>
        <p:nvSpPr>
          <p:cNvPr id="6" name="Text 4"/>
          <p:cNvSpPr txBox="1"/>
          <p:nvPr/>
        </p:nvSpPr>
        <p:spPr>
          <a:xfrm>
            <a:off x="228600" y="1810512"/>
            <a:ext cx="1097280" cy="274320"/>
          </a:xfrm>
          <a:prstGeom prst="rect">
            <a:avLst/>
          </a:prstGeom>
          <a:noFill/>
          <a:ln/>
        </p:spPr>
        <p:txBody>
          <a:bodyPr wrap="square" lIns="0" tIns="0" rIns="0" bIns="0" rtlCol="0" anchor="t"/>
          <a:lstStyle/>
          <a:p>
            <a:pPr algn="ctr" indent="0" marL="0">
              <a:buNone/>
            </a:pPr>
            <a:r>
              <a:rPr lang="en-US" sz="1300" b="1" dirty="0">
                <a:solidFill>
                  <a:srgbClr val="0B2239"/>
                </a:solidFill>
              </a:rPr>
              <a:t>Data</a:t>
            </a:r>
            <a:endParaRPr lang="en-US" sz="1300" dirty="0"/>
          </a:p>
        </p:txBody>
      </p:sp>
      <p:sp>
        <p:nvSpPr>
          <p:cNvPr id="7" name="Text 5"/>
          <p:cNvSpPr txBox="1"/>
          <p:nvPr/>
        </p:nvSpPr>
        <p:spPr>
          <a:xfrm>
            <a:off x="228600" y="1188720"/>
            <a:ext cx="1097280" cy="274320"/>
          </a:xfrm>
          <a:prstGeom prst="rect">
            <a:avLst/>
          </a:prstGeom>
          <a:noFill/>
          <a:ln/>
        </p:spPr>
        <p:txBody>
          <a:bodyPr wrap="square" lIns="0" tIns="0" rIns="0" bIns="0" rtlCol="0" anchor="t"/>
          <a:lstStyle/>
          <a:p>
            <a:pPr algn="ctr" indent="0" marL="0">
              <a:buNone/>
            </a:pPr>
            <a:r>
              <a:rPr lang="en-US" sz="1000" b="1" dirty="0">
                <a:solidFill>
                  <a:srgbClr val="AAB5C0"/>
                </a:solidFill>
              </a:rPr>
              <a:t>01</a:t>
            </a:r>
            <a:endParaRPr lang="en-US" sz="1000" dirty="0"/>
          </a:p>
        </p:txBody>
      </p:sp>
      <p:sp>
        <p:nvSpPr>
          <p:cNvPr id="8" name="step-dot-1"/>
          <p:cNvSpPr/>
          <p:nvPr/>
        </p:nvSpPr>
        <p:spPr>
          <a:xfrm>
            <a:off x="1959864" y="1545336"/>
            <a:ext cx="164592" cy="164592"/>
          </a:xfrm>
          <a:prstGeom prst="ellipse">
            <a:avLst/>
          </a:prstGeom>
          <a:solidFill>
            <a:srgbClr val="2A78D6"/>
          </a:solidFill>
          <a:ln w="12700">
            <a:solidFill>
              <a:srgbClr val="2A78D6"/>
            </a:solidFill>
            <a:prstDash val="solid"/>
          </a:ln>
        </p:spPr>
      </p:sp>
      <p:sp>
        <p:nvSpPr>
          <p:cNvPr id="9" name="Text 7"/>
          <p:cNvSpPr txBox="1"/>
          <p:nvPr/>
        </p:nvSpPr>
        <p:spPr>
          <a:xfrm>
            <a:off x="1493520" y="1810512"/>
            <a:ext cx="1097280" cy="274320"/>
          </a:xfrm>
          <a:prstGeom prst="rect">
            <a:avLst/>
          </a:prstGeom>
          <a:noFill/>
          <a:ln/>
        </p:spPr>
        <p:txBody>
          <a:bodyPr wrap="square" lIns="0" tIns="0" rIns="0" bIns="0" rtlCol="0" anchor="t"/>
          <a:lstStyle/>
          <a:p>
            <a:pPr algn="ctr" indent="0" marL="0">
              <a:buNone/>
            </a:pPr>
            <a:r>
              <a:rPr lang="en-US" sz="1300" b="1" dirty="0">
                <a:solidFill>
                  <a:srgbClr val="0B2239"/>
                </a:solidFill>
              </a:rPr>
              <a:t>Quality</a:t>
            </a:r>
            <a:endParaRPr lang="en-US" sz="1300" dirty="0"/>
          </a:p>
        </p:txBody>
      </p:sp>
      <p:sp>
        <p:nvSpPr>
          <p:cNvPr id="10" name="Text 8"/>
          <p:cNvSpPr txBox="1"/>
          <p:nvPr/>
        </p:nvSpPr>
        <p:spPr>
          <a:xfrm>
            <a:off x="1493520" y="1188720"/>
            <a:ext cx="1097280" cy="274320"/>
          </a:xfrm>
          <a:prstGeom prst="rect">
            <a:avLst/>
          </a:prstGeom>
          <a:noFill/>
          <a:ln/>
        </p:spPr>
        <p:txBody>
          <a:bodyPr wrap="square" lIns="0" tIns="0" rIns="0" bIns="0" rtlCol="0" anchor="t"/>
          <a:lstStyle/>
          <a:p>
            <a:pPr algn="ctr" indent="0" marL="0">
              <a:buNone/>
            </a:pPr>
            <a:r>
              <a:rPr lang="en-US" sz="1000" b="1" dirty="0">
                <a:solidFill>
                  <a:srgbClr val="AAB5C0"/>
                </a:solidFill>
              </a:rPr>
              <a:t>02</a:t>
            </a:r>
            <a:endParaRPr lang="en-US" sz="1000" dirty="0"/>
          </a:p>
        </p:txBody>
      </p:sp>
      <p:sp>
        <p:nvSpPr>
          <p:cNvPr id="11" name="step-dot-2"/>
          <p:cNvSpPr/>
          <p:nvPr/>
        </p:nvSpPr>
        <p:spPr>
          <a:xfrm>
            <a:off x="3224784" y="1545336"/>
            <a:ext cx="164592" cy="164592"/>
          </a:xfrm>
          <a:prstGeom prst="ellipse">
            <a:avLst/>
          </a:prstGeom>
          <a:solidFill>
            <a:srgbClr val="2A78D6"/>
          </a:solidFill>
          <a:ln w="12700">
            <a:solidFill>
              <a:srgbClr val="2A78D6"/>
            </a:solidFill>
            <a:prstDash val="solid"/>
          </a:ln>
        </p:spPr>
      </p:sp>
      <p:sp>
        <p:nvSpPr>
          <p:cNvPr id="12" name="Text 10"/>
          <p:cNvSpPr txBox="1"/>
          <p:nvPr/>
        </p:nvSpPr>
        <p:spPr>
          <a:xfrm>
            <a:off x="2758440" y="1810512"/>
            <a:ext cx="1097280" cy="274320"/>
          </a:xfrm>
          <a:prstGeom prst="rect">
            <a:avLst/>
          </a:prstGeom>
          <a:noFill/>
          <a:ln/>
        </p:spPr>
        <p:txBody>
          <a:bodyPr wrap="square" lIns="0" tIns="0" rIns="0" bIns="0" rtlCol="0" anchor="t"/>
          <a:lstStyle/>
          <a:p>
            <a:pPr algn="ctr" indent="0" marL="0">
              <a:buNone/>
            </a:pPr>
            <a:r>
              <a:rPr lang="en-US" sz="1300" b="1" dirty="0">
                <a:solidFill>
                  <a:srgbClr val="0B2239"/>
                </a:solidFill>
              </a:rPr>
              <a:t>EDA</a:t>
            </a:r>
            <a:endParaRPr lang="en-US" sz="1300" dirty="0"/>
          </a:p>
        </p:txBody>
      </p:sp>
      <p:sp>
        <p:nvSpPr>
          <p:cNvPr id="13" name="Text 11"/>
          <p:cNvSpPr txBox="1"/>
          <p:nvPr/>
        </p:nvSpPr>
        <p:spPr>
          <a:xfrm>
            <a:off x="2758440" y="1188720"/>
            <a:ext cx="1097280" cy="274320"/>
          </a:xfrm>
          <a:prstGeom prst="rect">
            <a:avLst/>
          </a:prstGeom>
          <a:noFill/>
          <a:ln/>
        </p:spPr>
        <p:txBody>
          <a:bodyPr wrap="square" lIns="0" tIns="0" rIns="0" bIns="0" rtlCol="0" anchor="t"/>
          <a:lstStyle/>
          <a:p>
            <a:pPr algn="ctr" indent="0" marL="0">
              <a:buNone/>
            </a:pPr>
            <a:r>
              <a:rPr lang="en-US" sz="1000" b="1" dirty="0">
                <a:solidFill>
                  <a:srgbClr val="AAB5C0"/>
                </a:solidFill>
              </a:rPr>
              <a:t>03</a:t>
            </a:r>
            <a:endParaRPr lang="en-US" sz="1000" dirty="0"/>
          </a:p>
        </p:txBody>
      </p:sp>
      <p:sp>
        <p:nvSpPr>
          <p:cNvPr id="14" name="step-dot-3"/>
          <p:cNvSpPr/>
          <p:nvPr/>
        </p:nvSpPr>
        <p:spPr>
          <a:xfrm>
            <a:off x="4489704" y="1545336"/>
            <a:ext cx="164592" cy="164592"/>
          </a:xfrm>
          <a:prstGeom prst="ellipse">
            <a:avLst/>
          </a:prstGeom>
          <a:solidFill>
            <a:srgbClr val="2A78D6"/>
          </a:solidFill>
          <a:ln w="12700">
            <a:solidFill>
              <a:srgbClr val="2A78D6"/>
            </a:solidFill>
            <a:prstDash val="solid"/>
          </a:ln>
        </p:spPr>
      </p:sp>
      <p:sp>
        <p:nvSpPr>
          <p:cNvPr id="15" name="Text 13"/>
          <p:cNvSpPr txBox="1"/>
          <p:nvPr/>
        </p:nvSpPr>
        <p:spPr>
          <a:xfrm>
            <a:off x="4023360" y="1810512"/>
            <a:ext cx="1097280" cy="274320"/>
          </a:xfrm>
          <a:prstGeom prst="rect">
            <a:avLst/>
          </a:prstGeom>
          <a:noFill/>
          <a:ln/>
        </p:spPr>
        <p:txBody>
          <a:bodyPr wrap="square" lIns="0" tIns="0" rIns="0" bIns="0" rtlCol="0" anchor="t"/>
          <a:lstStyle/>
          <a:p>
            <a:pPr algn="ctr" indent="0" marL="0">
              <a:buNone/>
            </a:pPr>
            <a:r>
              <a:rPr lang="en-US" sz="1300" b="1" dirty="0">
                <a:solidFill>
                  <a:srgbClr val="0B2239"/>
                </a:solidFill>
              </a:rPr>
              <a:t>Features</a:t>
            </a:r>
            <a:endParaRPr lang="en-US" sz="1300" dirty="0"/>
          </a:p>
        </p:txBody>
      </p:sp>
      <p:sp>
        <p:nvSpPr>
          <p:cNvPr id="16" name="Text 14"/>
          <p:cNvSpPr txBox="1"/>
          <p:nvPr/>
        </p:nvSpPr>
        <p:spPr>
          <a:xfrm>
            <a:off x="4023360" y="1188720"/>
            <a:ext cx="1097280" cy="274320"/>
          </a:xfrm>
          <a:prstGeom prst="rect">
            <a:avLst/>
          </a:prstGeom>
          <a:noFill/>
          <a:ln/>
        </p:spPr>
        <p:txBody>
          <a:bodyPr wrap="square" lIns="0" tIns="0" rIns="0" bIns="0" rtlCol="0" anchor="t"/>
          <a:lstStyle/>
          <a:p>
            <a:pPr algn="ctr" indent="0" marL="0">
              <a:buNone/>
            </a:pPr>
            <a:r>
              <a:rPr lang="en-US" sz="1000" b="1" dirty="0">
                <a:solidFill>
                  <a:srgbClr val="AAB5C0"/>
                </a:solidFill>
              </a:rPr>
              <a:t>04</a:t>
            </a:r>
            <a:endParaRPr lang="en-US" sz="1000" dirty="0"/>
          </a:p>
        </p:txBody>
      </p:sp>
      <p:sp>
        <p:nvSpPr>
          <p:cNvPr id="17" name="step-dot-4"/>
          <p:cNvSpPr/>
          <p:nvPr/>
        </p:nvSpPr>
        <p:spPr>
          <a:xfrm>
            <a:off x="5754624" y="1545336"/>
            <a:ext cx="164592" cy="164592"/>
          </a:xfrm>
          <a:prstGeom prst="ellipse">
            <a:avLst/>
          </a:prstGeom>
          <a:solidFill>
            <a:srgbClr val="2A78D6"/>
          </a:solidFill>
          <a:ln w="12700">
            <a:solidFill>
              <a:srgbClr val="2A78D6"/>
            </a:solidFill>
            <a:prstDash val="solid"/>
          </a:ln>
        </p:spPr>
      </p:sp>
      <p:sp>
        <p:nvSpPr>
          <p:cNvPr id="18" name="Text 16"/>
          <p:cNvSpPr txBox="1"/>
          <p:nvPr/>
        </p:nvSpPr>
        <p:spPr>
          <a:xfrm>
            <a:off x="5288280" y="1810512"/>
            <a:ext cx="1097280" cy="274320"/>
          </a:xfrm>
          <a:prstGeom prst="rect">
            <a:avLst/>
          </a:prstGeom>
          <a:noFill/>
          <a:ln/>
        </p:spPr>
        <p:txBody>
          <a:bodyPr wrap="square" lIns="0" tIns="0" rIns="0" bIns="0" rtlCol="0" anchor="t"/>
          <a:lstStyle/>
          <a:p>
            <a:pPr algn="ctr" indent="0" marL="0">
              <a:buNone/>
            </a:pPr>
            <a:r>
              <a:rPr lang="en-US" sz="1300" b="1" dirty="0">
                <a:solidFill>
                  <a:srgbClr val="0B2239"/>
                </a:solidFill>
              </a:rPr>
              <a:t>Split</a:t>
            </a:r>
            <a:endParaRPr lang="en-US" sz="1300" dirty="0"/>
          </a:p>
        </p:txBody>
      </p:sp>
      <p:sp>
        <p:nvSpPr>
          <p:cNvPr id="19" name="Text 17"/>
          <p:cNvSpPr txBox="1"/>
          <p:nvPr/>
        </p:nvSpPr>
        <p:spPr>
          <a:xfrm>
            <a:off x="5288280" y="1188720"/>
            <a:ext cx="1097280" cy="274320"/>
          </a:xfrm>
          <a:prstGeom prst="rect">
            <a:avLst/>
          </a:prstGeom>
          <a:noFill/>
          <a:ln/>
        </p:spPr>
        <p:txBody>
          <a:bodyPr wrap="square" lIns="0" tIns="0" rIns="0" bIns="0" rtlCol="0" anchor="t"/>
          <a:lstStyle/>
          <a:p>
            <a:pPr algn="ctr" indent="0" marL="0">
              <a:buNone/>
            </a:pPr>
            <a:r>
              <a:rPr lang="en-US" sz="1000" b="1" dirty="0">
                <a:solidFill>
                  <a:srgbClr val="AAB5C0"/>
                </a:solidFill>
              </a:rPr>
              <a:t>05</a:t>
            </a:r>
            <a:endParaRPr lang="en-US" sz="1000" dirty="0"/>
          </a:p>
        </p:txBody>
      </p:sp>
      <p:sp>
        <p:nvSpPr>
          <p:cNvPr id="20" name="step-dot-5"/>
          <p:cNvSpPr/>
          <p:nvPr/>
        </p:nvSpPr>
        <p:spPr>
          <a:xfrm>
            <a:off x="7019544" y="1545336"/>
            <a:ext cx="164592" cy="164592"/>
          </a:xfrm>
          <a:prstGeom prst="ellipse">
            <a:avLst/>
          </a:prstGeom>
          <a:solidFill>
            <a:srgbClr val="2A78D6"/>
          </a:solidFill>
          <a:ln w="12700">
            <a:solidFill>
              <a:srgbClr val="2A78D6"/>
            </a:solidFill>
            <a:prstDash val="solid"/>
          </a:ln>
        </p:spPr>
      </p:sp>
      <p:sp>
        <p:nvSpPr>
          <p:cNvPr id="21" name="Text 19"/>
          <p:cNvSpPr txBox="1"/>
          <p:nvPr/>
        </p:nvSpPr>
        <p:spPr>
          <a:xfrm>
            <a:off x="6553200" y="1810512"/>
            <a:ext cx="1097280" cy="274320"/>
          </a:xfrm>
          <a:prstGeom prst="rect">
            <a:avLst/>
          </a:prstGeom>
          <a:noFill/>
          <a:ln/>
        </p:spPr>
        <p:txBody>
          <a:bodyPr wrap="square" lIns="0" tIns="0" rIns="0" bIns="0" rtlCol="0" anchor="t"/>
          <a:lstStyle/>
          <a:p>
            <a:pPr algn="ctr" indent="0" marL="0">
              <a:buNone/>
            </a:pPr>
            <a:r>
              <a:rPr lang="en-US" sz="1300" b="1" dirty="0">
                <a:solidFill>
                  <a:srgbClr val="0B2239"/>
                </a:solidFill>
              </a:rPr>
              <a:t>Models</a:t>
            </a:r>
            <a:endParaRPr lang="en-US" sz="1300" dirty="0"/>
          </a:p>
        </p:txBody>
      </p:sp>
      <p:sp>
        <p:nvSpPr>
          <p:cNvPr id="22" name="Text 20"/>
          <p:cNvSpPr txBox="1"/>
          <p:nvPr/>
        </p:nvSpPr>
        <p:spPr>
          <a:xfrm>
            <a:off x="6553200" y="1188720"/>
            <a:ext cx="1097280" cy="274320"/>
          </a:xfrm>
          <a:prstGeom prst="rect">
            <a:avLst/>
          </a:prstGeom>
          <a:noFill/>
          <a:ln/>
        </p:spPr>
        <p:txBody>
          <a:bodyPr wrap="square" lIns="0" tIns="0" rIns="0" bIns="0" rtlCol="0" anchor="t"/>
          <a:lstStyle/>
          <a:p>
            <a:pPr algn="ctr" indent="0" marL="0">
              <a:buNone/>
            </a:pPr>
            <a:r>
              <a:rPr lang="en-US" sz="1000" b="1" dirty="0">
                <a:solidFill>
                  <a:srgbClr val="AAB5C0"/>
                </a:solidFill>
              </a:rPr>
              <a:t>06</a:t>
            </a:r>
            <a:endParaRPr lang="en-US" sz="1000" dirty="0"/>
          </a:p>
        </p:txBody>
      </p:sp>
      <p:sp>
        <p:nvSpPr>
          <p:cNvPr id="23" name="step-dot-6"/>
          <p:cNvSpPr/>
          <p:nvPr/>
        </p:nvSpPr>
        <p:spPr>
          <a:xfrm>
            <a:off x="8284464" y="1545336"/>
            <a:ext cx="164592" cy="164592"/>
          </a:xfrm>
          <a:prstGeom prst="ellipse">
            <a:avLst/>
          </a:prstGeom>
          <a:solidFill>
            <a:srgbClr val="0B2239"/>
          </a:solidFill>
          <a:ln w="12700">
            <a:solidFill>
              <a:srgbClr val="0B2239"/>
            </a:solidFill>
            <a:prstDash val="solid"/>
          </a:ln>
        </p:spPr>
      </p:sp>
      <p:sp>
        <p:nvSpPr>
          <p:cNvPr id="24" name="Text 22"/>
          <p:cNvSpPr txBox="1"/>
          <p:nvPr/>
        </p:nvSpPr>
        <p:spPr>
          <a:xfrm>
            <a:off x="7818120" y="1810512"/>
            <a:ext cx="1097280" cy="274320"/>
          </a:xfrm>
          <a:prstGeom prst="rect">
            <a:avLst/>
          </a:prstGeom>
          <a:noFill/>
          <a:ln/>
        </p:spPr>
        <p:txBody>
          <a:bodyPr wrap="square" lIns="0" tIns="0" rIns="0" bIns="0" rtlCol="0" anchor="t"/>
          <a:lstStyle/>
          <a:p>
            <a:pPr algn="ctr" indent="0" marL="0">
              <a:buNone/>
            </a:pPr>
            <a:r>
              <a:rPr lang="en-US" sz="1300" b="1" dirty="0">
                <a:solidFill>
                  <a:srgbClr val="0B2239"/>
                </a:solidFill>
              </a:rPr>
              <a:t>Test</a:t>
            </a:r>
            <a:endParaRPr lang="en-US" sz="1300" dirty="0"/>
          </a:p>
        </p:txBody>
      </p:sp>
      <p:sp>
        <p:nvSpPr>
          <p:cNvPr id="25" name="Text 23"/>
          <p:cNvSpPr txBox="1"/>
          <p:nvPr/>
        </p:nvSpPr>
        <p:spPr>
          <a:xfrm>
            <a:off x="7818120" y="1188720"/>
            <a:ext cx="1097280" cy="274320"/>
          </a:xfrm>
          <a:prstGeom prst="rect">
            <a:avLst/>
          </a:prstGeom>
          <a:noFill/>
          <a:ln/>
        </p:spPr>
        <p:txBody>
          <a:bodyPr wrap="square" lIns="0" tIns="0" rIns="0" bIns="0" rtlCol="0" anchor="t"/>
          <a:lstStyle/>
          <a:p>
            <a:pPr algn="ctr" indent="0" marL="0">
              <a:buNone/>
            </a:pPr>
            <a:r>
              <a:rPr lang="en-US" sz="1000" b="1" dirty="0">
                <a:solidFill>
                  <a:srgbClr val="AAB5C0"/>
                </a:solidFill>
              </a:rPr>
              <a:t>07</a:t>
            </a:r>
            <a:endParaRPr lang="en-US" sz="1000" dirty="0"/>
          </a:p>
        </p:txBody>
      </p:sp>
      <p:sp>
        <p:nvSpPr>
          <p:cNvPr id="26" name="code-card-0"/>
          <p:cNvSpPr/>
          <p:nvPr/>
        </p:nvSpPr>
        <p:spPr>
          <a:xfrm>
            <a:off x="548640" y="2423160"/>
            <a:ext cx="3931920" cy="2148840"/>
          </a:xfrm>
          <a:prstGeom prst="roundRect">
            <a:avLst>
              <a:gd name="adj" fmla="val 2553"/>
            </a:avLst>
          </a:prstGeom>
          <a:solidFill>
            <a:srgbClr val="F4F7FA"/>
          </a:solidFill>
          <a:ln w="12700">
            <a:solidFill>
              <a:srgbClr val="E2E8EE"/>
            </a:solidFill>
            <a:prstDash val="solid"/>
          </a:ln>
        </p:spPr>
      </p:sp>
      <p:sp>
        <p:nvSpPr>
          <p:cNvPr id="27" name="Text 25"/>
          <p:cNvSpPr txBox="1"/>
          <p:nvPr/>
        </p:nvSpPr>
        <p:spPr>
          <a:xfrm>
            <a:off x="777240" y="2606040"/>
            <a:ext cx="3566160" cy="320040"/>
          </a:xfrm>
          <a:prstGeom prst="rect">
            <a:avLst/>
          </a:prstGeom>
          <a:noFill/>
          <a:ln/>
        </p:spPr>
        <p:txBody>
          <a:bodyPr wrap="square" lIns="0" tIns="0" rIns="0" bIns="0" rtlCol="0" anchor="t"/>
          <a:lstStyle/>
          <a:p>
            <a:pPr indent="0" marL="0">
              <a:buNone/>
            </a:pPr>
            <a:r>
              <a:rPr lang="en-US" sz="1400" b="1" dirty="0">
                <a:solidFill>
                  <a:srgbClr val="0B2239"/>
                </a:solidFill>
                <a:latin typeface="Courier New" pitchFamily="34" charset="0"/>
                <a:ea typeface="Courier New" pitchFamily="34" charset="-122"/>
                <a:cs typeface="Courier New" pitchFamily="34" charset="-120"/>
              </a:rPr>
              <a:t>weather_prediction_macau.ipynb</a:t>
            </a:r>
            <a:endParaRPr lang="en-US" sz="1400" dirty="0"/>
          </a:p>
        </p:txBody>
      </p:sp>
      <p:sp>
        <p:nvSpPr>
          <p:cNvPr id="28" name="Text 26"/>
          <p:cNvSpPr txBox="1"/>
          <p:nvPr/>
        </p:nvSpPr>
        <p:spPr>
          <a:xfrm>
            <a:off x="777240" y="3017520"/>
            <a:ext cx="3520440" cy="14630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B2733"/>
                </a:solidFill>
              </a:rPr>
              <a:t>The analysis step by step, with an interpretation after each result</a:t>
            </a:r>
            <a:endParaRPr lang="en-US" sz="1250" dirty="0"/>
          </a:p>
          <a:p>
            <a:pPr marL="177800" indent="-177800">
              <a:spcAft>
                <a:spcPts val="500"/>
              </a:spcAft>
              <a:buSzPct val="100000"/>
              <a:buChar char="•"/>
            </a:pPr>
            <a:r>
              <a:rPr lang="en-US" sz="1250" dirty="0">
                <a:solidFill>
                  <a:srgbClr val="1B2733"/>
                </a:solidFill>
              </a:rPr>
              <a:t>About 470 lines; runs end to end with Restart &amp; Run All</a:t>
            </a:r>
            <a:endParaRPr lang="en-US" sz="1250" dirty="0"/>
          </a:p>
          <a:p>
            <a:pPr marL="177800" indent="-177800">
              <a:spcAft>
                <a:spcPts val="500"/>
              </a:spcAft>
              <a:buSzPct val="100000"/>
              <a:buChar char="•"/>
            </a:pPr>
            <a:r>
              <a:rPr lang="en-US" sz="1250" dirty="0">
                <a:solidFill>
                  <a:srgbClr val="1B2733"/>
                </a:solidFill>
              </a:rPr>
              <a:t>Fixed seed: every run reproduces the same tables</a:t>
            </a:r>
            <a:endParaRPr lang="en-US" sz="1250" dirty="0"/>
          </a:p>
        </p:txBody>
      </p:sp>
      <p:sp>
        <p:nvSpPr>
          <p:cNvPr id="29" name="code-card-1"/>
          <p:cNvSpPr/>
          <p:nvPr/>
        </p:nvSpPr>
        <p:spPr>
          <a:xfrm>
            <a:off x="4663440" y="2423160"/>
            <a:ext cx="3931920" cy="2148840"/>
          </a:xfrm>
          <a:prstGeom prst="roundRect">
            <a:avLst>
              <a:gd name="adj" fmla="val 2553"/>
            </a:avLst>
          </a:prstGeom>
          <a:solidFill>
            <a:srgbClr val="F4F7FA"/>
          </a:solidFill>
          <a:ln w="12700">
            <a:solidFill>
              <a:srgbClr val="E2E8EE"/>
            </a:solidFill>
            <a:prstDash val="solid"/>
          </a:ln>
        </p:spPr>
      </p:sp>
      <p:sp>
        <p:nvSpPr>
          <p:cNvPr id="30" name="Text 28"/>
          <p:cNvSpPr txBox="1"/>
          <p:nvPr/>
        </p:nvSpPr>
        <p:spPr>
          <a:xfrm>
            <a:off x="4892040" y="2606040"/>
            <a:ext cx="3566160" cy="320040"/>
          </a:xfrm>
          <a:prstGeom prst="rect">
            <a:avLst/>
          </a:prstGeom>
          <a:noFill/>
          <a:ln/>
        </p:spPr>
        <p:txBody>
          <a:bodyPr wrap="square" lIns="0" tIns="0" rIns="0" bIns="0" rtlCol="0" anchor="t"/>
          <a:lstStyle/>
          <a:p>
            <a:pPr indent="0" marL="0">
              <a:buNone/>
            </a:pPr>
            <a:r>
              <a:rPr lang="en-US" sz="1400" b="1" dirty="0">
                <a:solidFill>
                  <a:srgbClr val="0B2239"/>
                </a:solidFill>
                <a:latin typeface="Courier New" pitchFamily="34" charset="0"/>
                <a:ea typeface="Courier New" pitchFamily="34" charset="-122"/>
                <a:cs typeface="Courier New" pitchFamily="34" charset="-120"/>
              </a:rPr>
              <a:t>weather_utils.py</a:t>
            </a:r>
            <a:endParaRPr lang="en-US" sz="1400" dirty="0"/>
          </a:p>
        </p:txBody>
      </p:sp>
      <p:sp>
        <p:nvSpPr>
          <p:cNvPr id="31" name="Text 29"/>
          <p:cNvSpPr txBox="1"/>
          <p:nvPr/>
        </p:nvSpPr>
        <p:spPr>
          <a:xfrm>
            <a:off x="4892040" y="3017520"/>
            <a:ext cx="3520440" cy="14630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B2733"/>
                </a:solidFill>
              </a:rPr>
              <a:t>Data: download, format conversion, coverage check</a:t>
            </a:r>
            <a:endParaRPr lang="en-US" sz="1250" dirty="0"/>
          </a:p>
          <a:p>
            <a:pPr marL="177800" indent="-177800">
              <a:spcAft>
                <a:spcPts val="500"/>
              </a:spcAft>
              <a:buSzPct val="100000"/>
              <a:buChar char="•"/>
            </a:pPr>
            <a:r>
              <a:rPr lang="en-US" sz="1250" dirty="0">
                <a:solidFill>
                  <a:srgbClr val="1B2733"/>
                </a:solidFill>
              </a:rPr>
              <a:t>Quality and 76 features</a:t>
            </a:r>
            <a:endParaRPr lang="en-US" sz="1250" dirty="0"/>
          </a:p>
          <a:p>
            <a:pPr marL="177800" indent="-177800">
              <a:spcAft>
                <a:spcPts val="500"/>
              </a:spcAft>
              <a:buSzPct val="100000"/>
              <a:buChar char="•"/>
            </a:pPr>
            <a:r>
              <a:rPr lang="en-US" sz="1250" dirty="0">
                <a:solidFill>
                  <a:srgbClr val="1B2733"/>
                </a:solidFill>
              </a:rPr>
              <a:t>9 regressors, 8 classifiers, grids, ensemble</a:t>
            </a:r>
            <a:endParaRPr lang="en-US" sz="1250" dirty="0"/>
          </a:p>
          <a:p>
            <a:pPr marL="177800" indent="-177800">
              <a:spcAft>
                <a:spcPts val="500"/>
              </a:spcAft>
              <a:buSzPct val="100000"/>
              <a:buChar char="•"/>
            </a:pPr>
            <a:r>
              <a:rPr lang="en-US" sz="1250" dirty="0">
                <a:solidFill>
                  <a:srgbClr val="1B2733"/>
                </a:solidFill>
              </a:rPr>
              <a:t>Metrics and block bootstrap</a:t>
            </a:r>
            <a:endParaRPr lang="en-US" sz="1250" dirty="0"/>
          </a:p>
        </p:txBody>
      </p:sp>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AB5C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000" b="1" spc="300" kern="0" dirty="0">
                <a:solidFill>
                  <a:srgbClr val="2A78D6"/>
                </a:solidFill>
              </a:rPr>
              <a:t>EXPLORATORY ANALYSIS</a:t>
            </a:r>
            <a:endParaRPr lang="en-US" sz="10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600" b="1" dirty="0">
                <a:solidFill>
                  <a:srgbClr val="0B2239"/>
                </a:solidFill>
              </a:rPr>
              <a:t>Strong memory and strong seasons</a:t>
            </a:r>
            <a:endParaRPr lang="en-US" sz="2600" dirty="0"/>
          </a:p>
        </p:txBody>
      </p:sp>
      <p:pic>
        <p:nvPicPr>
          <p:cNvPr id="4" name="seasonality" descr="/Users/thiagohonoratoferreira/Desktop/project_update/figures/eda_seasonality.png">    </p:cNvPr>
          <p:cNvPicPr>
            <a:picLocks noChangeAspect="1"/>
          </p:cNvPicPr>
          <p:nvPr/>
        </p:nvPicPr>
        <p:blipFill>
          <a:blip r:embed="rId1"/>
          <a:stretch>
            <a:fillRect/>
          </a:stretch>
        </p:blipFill>
        <p:spPr>
          <a:xfrm>
            <a:off x="548640" y="1280160"/>
            <a:ext cx="8046720" cy="1954036"/>
          </a:xfrm>
          <a:prstGeom prst="rect">
            <a:avLst/>
          </a:prstGeom>
        </p:spPr>
      </p:pic>
      <p:sp>
        <p:nvSpPr>
          <p:cNvPr id="5" name="Text 2"/>
          <p:cNvSpPr txBox="1"/>
          <p:nvPr/>
        </p:nvSpPr>
        <p:spPr>
          <a:xfrm>
            <a:off x="548640" y="3429000"/>
            <a:ext cx="2468880" cy="502920"/>
          </a:xfrm>
          <a:prstGeom prst="rect">
            <a:avLst/>
          </a:prstGeom>
          <a:noFill/>
          <a:ln/>
        </p:spPr>
        <p:txBody>
          <a:bodyPr wrap="square" lIns="0" tIns="0" rIns="0" bIns="0" rtlCol="0" anchor="b"/>
          <a:lstStyle/>
          <a:p>
            <a:pPr indent="0" marL="0">
              <a:buNone/>
            </a:pPr>
            <a:r>
              <a:rPr lang="en-US" sz="2800" b="1" dirty="0">
                <a:solidFill>
                  <a:srgbClr val="EB6834"/>
                </a:solidFill>
              </a:rPr>
              <a:t>0.93</a:t>
            </a:r>
            <a:endParaRPr lang="en-US" sz="2800" dirty="0"/>
          </a:p>
        </p:txBody>
      </p:sp>
      <p:sp>
        <p:nvSpPr>
          <p:cNvPr id="6" name="Text 3"/>
          <p:cNvSpPr txBox="1"/>
          <p:nvPr/>
        </p:nvSpPr>
        <p:spPr>
          <a:xfrm>
            <a:off x="548640" y="3977640"/>
            <a:ext cx="2468880" cy="594360"/>
          </a:xfrm>
          <a:prstGeom prst="rect">
            <a:avLst/>
          </a:prstGeom>
          <a:noFill/>
          <a:ln/>
        </p:spPr>
        <p:txBody>
          <a:bodyPr wrap="square" lIns="0" tIns="0" rIns="0" bIns="0" rtlCol="0" anchor="t"/>
          <a:lstStyle/>
          <a:p>
            <a:pPr indent="0" marL="0">
              <a:buNone/>
            </a:pPr>
            <a:r>
              <a:rPr lang="en-US" sz="1200" dirty="0">
                <a:solidFill>
                  <a:srgbClr val="667788"/>
                </a:solidFill>
              </a:rPr>
              <a:t>lag-1 autocorrelation of Tmax: persistence is a hard baseline</a:t>
            </a:r>
            <a:endParaRPr lang="en-US" sz="1200" dirty="0"/>
          </a:p>
        </p:txBody>
      </p:sp>
      <p:sp>
        <p:nvSpPr>
          <p:cNvPr id="7" name="Text 4"/>
          <p:cNvSpPr txBox="1"/>
          <p:nvPr/>
        </p:nvSpPr>
        <p:spPr>
          <a:xfrm>
            <a:off x="3291840" y="3429000"/>
            <a:ext cx="2468880" cy="502920"/>
          </a:xfrm>
          <a:prstGeom prst="rect">
            <a:avLst/>
          </a:prstGeom>
          <a:noFill/>
          <a:ln/>
        </p:spPr>
        <p:txBody>
          <a:bodyPr wrap="square" lIns="0" tIns="0" rIns="0" bIns="0" rtlCol="0" anchor="b"/>
          <a:lstStyle/>
          <a:p>
            <a:pPr indent="0" marL="0">
              <a:buNone/>
            </a:pPr>
            <a:r>
              <a:rPr lang="en-US" sz="2800" b="1" dirty="0">
                <a:solidFill>
                  <a:srgbClr val="2A78D6"/>
                </a:solidFill>
              </a:rPr>
              <a:t>&gt;69%</a:t>
            </a:r>
            <a:endParaRPr lang="en-US" sz="2800" dirty="0"/>
          </a:p>
        </p:txBody>
      </p:sp>
      <p:sp>
        <p:nvSpPr>
          <p:cNvPr id="8" name="Text 5"/>
          <p:cNvSpPr txBox="1"/>
          <p:nvPr/>
        </p:nvSpPr>
        <p:spPr>
          <a:xfrm>
            <a:off x="3291840" y="3977640"/>
            <a:ext cx="2468880" cy="594360"/>
          </a:xfrm>
          <a:prstGeom prst="rect">
            <a:avLst/>
          </a:prstGeom>
          <a:noFill/>
          <a:ln/>
        </p:spPr>
        <p:txBody>
          <a:bodyPr wrap="square" lIns="0" tIns="0" rIns="0" bIns="0" rtlCol="0" anchor="t"/>
          <a:lstStyle/>
          <a:p>
            <a:pPr indent="0" marL="0">
              <a:buNone/>
            </a:pPr>
            <a:r>
              <a:rPr lang="en-US" sz="1200" dirty="0">
                <a:solidFill>
                  <a:srgbClr val="667788"/>
                </a:solidFill>
              </a:rPr>
              <a:t>of days are rainy from May to September</a:t>
            </a:r>
            <a:endParaRPr lang="en-US" sz="1200" dirty="0"/>
          </a:p>
        </p:txBody>
      </p:sp>
      <p:sp>
        <p:nvSpPr>
          <p:cNvPr id="9" name="Text 6"/>
          <p:cNvSpPr txBox="1"/>
          <p:nvPr/>
        </p:nvSpPr>
        <p:spPr>
          <a:xfrm>
            <a:off x="6035040" y="3429000"/>
            <a:ext cx="2468880" cy="502920"/>
          </a:xfrm>
          <a:prstGeom prst="rect">
            <a:avLst/>
          </a:prstGeom>
          <a:noFill/>
          <a:ln/>
        </p:spPr>
        <p:txBody>
          <a:bodyPr wrap="square" lIns="0" tIns="0" rIns="0" bIns="0" rtlCol="0" anchor="b"/>
          <a:lstStyle/>
          <a:p>
            <a:pPr indent="0" marL="0">
              <a:buNone/>
            </a:pPr>
            <a:r>
              <a:rPr lang="en-US" sz="2800" b="1" dirty="0">
                <a:solidFill>
                  <a:srgbClr val="1BAF7A"/>
                </a:solidFill>
              </a:rPr>
              <a:t>48%</a:t>
            </a:r>
            <a:endParaRPr lang="en-US" sz="2800" dirty="0"/>
          </a:p>
        </p:txBody>
      </p:sp>
      <p:sp>
        <p:nvSpPr>
          <p:cNvPr id="10" name="Text 7"/>
          <p:cNvSpPr txBox="1"/>
          <p:nvPr/>
        </p:nvSpPr>
        <p:spPr>
          <a:xfrm>
            <a:off x="6035040" y="3977640"/>
            <a:ext cx="2468880" cy="594360"/>
          </a:xfrm>
          <a:prstGeom prst="rect">
            <a:avLst/>
          </a:prstGeom>
          <a:noFill/>
          <a:ln/>
        </p:spPr>
        <p:txBody>
          <a:bodyPr wrap="square" lIns="0" tIns="0" rIns="0" bIns="0" rtlCol="0" anchor="t"/>
          <a:lstStyle/>
          <a:p>
            <a:pPr indent="0" marL="0">
              <a:buNone/>
            </a:pPr>
            <a:r>
              <a:rPr lang="en-US" sz="1200" dirty="0">
                <a:solidFill>
                  <a:srgbClr val="667788"/>
                </a:solidFill>
              </a:rPr>
              <a:t>of all days are Rain, so we use macro F1 instead of accuracy</a:t>
            </a:r>
            <a:endParaRPr lang="en-US" sz="1200" dirty="0"/>
          </a:p>
        </p:txBody>
      </p:sp>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AB5C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000" b="1" spc="300" kern="0" dirty="0">
                <a:solidFill>
                  <a:srgbClr val="2A78D6"/>
                </a:solidFill>
              </a:rPr>
              <a:t>FEATURE ENGINEERING</a:t>
            </a:r>
            <a:endParaRPr lang="en-US" sz="10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600" b="1" dirty="0">
                <a:solidFill>
                  <a:srgbClr val="0B2239"/>
                </a:solidFill>
              </a:rPr>
              <a:t>76 features, all built from day t or earlier</a:t>
            </a:r>
            <a:endParaRPr lang="en-US" sz="2600" dirty="0"/>
          </a:p>
        </p:txBody>
      </p:sp>
      <p:sp>
        <p:nvSpPr>
          <p:cNvPr id="4" name="group-0"/>
          <p:cNvSpPr/>
          <p:nvPr/>
        </p:nvSpPr>
        <p:spPr>
          <a:xfrm>
            <a:off x="548640" y="1325880"/>
            <a:ext cx="1892808" cy="1207008"/>
          </a:xfrm>
          <a:prstGeom prst="roundRect">
            <a:avLst>
              <a:gd name="adj" fmla="val 4545"/>
            </a:avLst>
          </a:prstGeom>
          <a:solidFill>
            <a:srgbClr val="FFFFFF"/>
          </a:solidFill>
          <a:ln w="12700">
            <a:solidFill>
              <a:srgbClr val="E2E8EE"/>
            </a:solidFill>
            <a:prstDash val="solid"/>
          </a:ln>
        </p:spPr>
      </p:sp>
      <p:sp>
        <p:nvSpPr>
          <p:cNvPr id="5" name="Text 3"/>
          <p:cNvSpPr txBox="1"/>
          <p:nvPr/>
        </p:nvSpPr>
        <p:spPr>
          <a:xfrm>
            <a:off x="731520" y="1435608"/>
            <a:ext cx="1554480" cy="457200"/>
          </a:xfrm>
          <a:prstGeom prst="rect">
            <a:avLst/>
          </a:prstGeom>
          <a:noFill/>
          <a:ln/>
        </p:spPr>
        <p:txBody>
          <a:bodyPr wrap="square" lIns="0" tIns="0" rIns="0" bIns="0" rtlCol="0" anchor="b"/>
          <a:lstStyle/>
          <a:p>
            <a:pPr indent="0" marL="0">
              <a:buNone/>
            </a:pPr>
            <a:r>
              <a:rPr lang="en-US" sz="2600" b="1" dirty="0">
                <a:solidFill>
                  <a:srgbClr val="2A78D6"/>
                </a:solidFill>
              </a:rPr>
              <a:t>14</a:t>
            </a:r>
            <a:endParaRPr lang="en-US" sz="2600" dirty="0"/>
          </a:p>
        </p:txBody>
      </p:sp>
      <p:sp>
        <p:nvSpPr>
          <p:cNvPr id="6" name="Text 4"/>
          <p:cNvSpPr txBox="1"/>
          <p:nvPr/>
        </p:nvSpPr>
        <p:spPr>
          <a:xfrm>
            <a:off x="731520" y="1929384"/>
            <a:ext cx="1600200" cy="256032"/>
          </a:xfrm>
          <a:prstGeom prst="rect">
            <a:avLst/>
          </a:prstGeom>
          <a:noFill/>
          <a:ln/>
        </p:spPr>
        <p:txBody>
          <a:bodyPr wrap="square" lIns="0" tIns="0" rIns="0" bIns="0" rtlCol="0" anchor="t"/>
          <a:lstStyle/>
          <a:p>
            <a:pPr indent="0" marL="0">
              <a:buNone/>
            </a:pPr>
            <a:r>
              <a:rPr lang="en-US" sz="1300" b="1" dirty="0">
                <a:solidFill>
                  <a:srgbClr val="0B2239"/>
                </a:solidFill>
              </a:rPr>
              <a:t>Today's values</a:t>
            </a:r>
            <a:endParaRPr lang="en-US" sz="1300" dirty="0"/>
          </a:p>
        </p:txBody>
      </p:sp>
      <p:sp>
        <p:nvSpPr>
          <p:cNvPr id="7" name="Text 5"/>
          <p:cNvSpPr txBox="1"/>
          <p:nvPr/>
        </p:nvSpPr>
        <p:spPr>
          <a:xfrm>
            <a:off x="731520" y="2185416"/>
            <a:ext cx="1600200" cy="292608"/>
          </a:xfrm>
          <a:prstGeom prst="rect">
            <a:avLst/>
          </a:prstGeom>
          <a:noFill/>
          <a:ln/>
        </p:spPr>
        <p:txBody>
          <a:bodyPr wrap="square" lIns="0" tIns="0" rIns="0" bIns="0" rtlCol="0" anchor="t"/>
          <a:lstStyle/>
          <a:p>
            <a:pPr indent="0" marL="0">
              <a:buNone/>
            </a:pPr>
            <a:r>
              <a:rPr lang="en-US" sz="1050" dirty="0">
                <a:solidFill>
                  <a:srgbClr val="667788"/>
                </a:solidFill>
              </a:rPr>
              <a:t>current state of the atmosphere</a:t>
            </a:r>
            <a:endParaRPr lang="en-US" sz="1050" dirty="0"/>
          </a:p>
        </p:txBody>
      </p:sp>
      <p:sp>
        <p:nvSpPr>
          <p:cNvPr id="8" name="group-1"/>
          <p:cNvSpPr/>
          <p:nvPr/>
        </p:nvSpPr>
        <p:spPr>
          <a:xfrm>
            <a:off x="2578608" y="1325880"/>
            <a:ext cx="1892808" cy="1207008"/>
          </a:xfrm>
          <a:prstGeom prst="roundRect">
            <a:avLst>
              <a:gd name="adj" fmla="val 4545"/>
            </a:avLst>
          </a:prstGeom>
          <a:solidFill>
            <a:srgbClr val="FFFFFF"/>
          </a:solidFill>
          <a:ln w="12700">
            <a:solidFill>
              <a:srgbClr val="E2E8EE"/>
            </a:solidFill>
            <a:prstDash val="solid"/>
          </a:ln>
        </p:spPr>
      </p:sp>
      <p:sp>
        <p:nvSpPr>
          <p:cNvPr id="9" name="Text 7"/>
          <p:cNvSpPr txBox="1"/>
          <p:nvPr/>
        </p:nvSpPr>
        <p:spPr>
          <a:xfrm>
            <a:off x="2761488" y="1435608"/>
            <a:ext cx="1554480" cy="457200"/>
          </a:xfrm>
          <a:prstGeom prst="rect">
            <a:avLst/>
          </a:prstGeom>
          <a:noFill/>
          <a:ln/>
        </p:spPr>
        <p:txBody>
          <a:bodyPr wrap="square" lIns="0" tIns="0" rIns="0" bIns="0" rtlCol="0" anchor="b"/>
          <a:lstStyle/>
          <a:p>
            <a:pPr indent="0" marL="0">
              <a:buNone/>
            </a:pPr>
            <a:r>
              <a:rPr lang="en-US" sz="2600" b="1" dirty="0">
                <a:solidFill>
                  <a:srgbClr val="2A78D6"/>
                </a:solidFill>
              </a:rPr>
              <a:t>20</a:t>
            </a:r>
            <a:endParaRPr lang="en-US" sz="2600" dirty="0"/>
          </a:p>
        </p:txBody>
      </p:sp>
      <p:sp>
        <p:nvSpPr>
          <p:cNvPr id="10" name="Text 8"/>
          <p:cNvSpPr txBox="1"/>
          <p:nvPr/>
        </p:nvSpPr>
        <p:spPr>
          <a:xfrm>
            <a:off x="2761488" y="1929384"/>
            <a:ext cx="1600200" cy="256032"/>
          </a:xfrm>
          <a:prstGeom prst="rect">
            <a:avLst/>
          </a:prstGeom>
          <a:noFill/>
          <a:ln/>
        </p:spPr>
        <p:txBody>
          <a:bodyPr wrap="square" lIns="0" tIns="0" rIns="0" bIns="0" rtlCol="0" anchor="t"/>
          <a:lstStyle/>
          <a:p>
            <a:pPr indent="0" marL="0">
              <a:buNone/>
            </a:pPr>
            <a:r>
              <a:rPr lang="en-US" sz="1300" b="1" dirty="0">
                <a:solidFill>
                  <a:srgbClr val="0B2239"/>
                </a:solidFill>
              </a:rPr>
              <a:t>Lags</a:t>
            </a:r>
            <a:endParaRPr lang="en-US" sz="1300" dirty="0"/>
          </a:p>
        </p:txBody>
      </p:sp>
      <p:sp>
        <p:nvSpPr>
          <p:cNvPr id="11" name="Text 9"/>
          <p:cNvSpPr txBox="1"/>
          <p:nvPr/>
        </p:nvSpPr>
        <p:spPr>
          <a:xfrm>
            <a:off x="2761488" y="2185416"/>
            <a:ext cx="1600200" cy="292608"/>
          </a:xfrm>
          <a:prstGeom prst="rect">
            <a:avLst/>
          </a:prstGeom>
          <a:noFill/>
          <a:ln/>
        </p:spPr>
        <p:txBody>
          <a:bodyPr wrap="square" lIns="0" tIns="0" rIns="0" bIns="0" rtlCol="0" anchor="t"/>
          <a:lstStyle/>
          <a:p>
            <a:pPr indent="0" marL="0">
              <a:buNone/>
            </a:pPr>
            <a:r>
              <a:rPr lang="en-US" sz="1050" dirty="0">
                <a:solidFill>
                  <a:srgbClr val="667788"/>
                </a:solidFill>
              </a:rPr>
              <a:t>t−1 and t−2: warming or cooling?</a:t>
            </a:r>
            <a:endParaRPr lang="en-US" sz="1050" dirty="0"/>
          </a:p>
        </p:txBody>
      </p:sp>
      <p:sp>
        <p:nvSpPr>
          <p:cNvPr id="12" name="group-2"/>
          <p:cNvSpPr/>
          <p:nvPr/>
        </p:nvSpPr>
        <p:spPr>
          <a:xfrm>
            <a:off x="4608576" y="1325880"/>
            <a:ext cx="1892808" cy="1207008"/>
          </a:xfrm>
          <a:prstGeom prst="roundRect">
            <a:avLst>
              <a:gd name="adj" fmla="val 4545"/>
            </a:avLst>
          </a:prstGeom>
          <a:solidFill>
            <a:srgbClr val="FFFFFF"/>
          </a:solidFill>
          <a:ln w="12700">
            <a:solidFill>
              <a:srgbClr val="E2E8EE"/>
            </a:solidFill>
            <a:prstDash val="solid"/>
          </a:ln>
        </p:spPr>
      </p:sp>
      <p:sp>
        <p:nvSpPr>
          <p:cNvPr id="13" name="Text 11"/>
          <p:cNvSpPr txBox="1"/>
          <p:nvPr/>
        </p:nvSpPr>
        <p:spPr>
          <a:xfrm>
            <a:off x="4791456" y="1435608"/>
            <a:ext cx="1554480" cy="457200"/>
          </a:xfrm>
          <a:prstGeom prst="rect">
            <a:avLst/>
          </a:prstGeom>
          <a:noFill/>
          <a:ln/>
        </p:spPr>
        <p:txBody>
          <a:bodyPr wrap="square" lIns="0" tIns="0" rIns="0" bIns="0" rtlCol="0" anchor="b"/>
          <a:lstStyle/>
          <a:p>
            <a:pPr indent="0" marL="0">
              <a:buNone/>
            </a:pPr>
            <a:r>
              <a:rPr lang="en-US" sz="2600" b="1" dirty="0">
                <a:solidFill>
                  <a:srgbClr val="2A78D6"/>
                </a:solidFill>
              </a:rPr>
              <a:t>5</a:t>
            </a:r>
            <a:endParaRPr lang="en-US" sz="2600" dirty="0"/>
          </a:p>
        </p:txBody>
      </p:sp>
      <p:sp>
        <p:nvSpPr>
          <p:cNvPr id="14" name="Text 12"/>
          <p:cNvSpPr txBox="1"/>
          <p:nvPr/>
        </p:nvSpPr>
        <p:spPr>
          <a:xfrm>
            <a:off x="4791456" y="1929384"/>
            <a:ext cx="1600200" cy="256032"/>
          </a:xfrm>
          <a:prstGeom prst="rect">
            <a:avLst/>
          </a:prstGeom>
          <a:noFill/>
          <a:ln/>
        </p:spPr>
        <p:txBody>
          <a:bodyPr wrap="square" lIns="0" tIns="0" rIns="0" bIns="0" rtlCol="0" anchor="t"/>
          <a:lstStyle/>
          <a:p>
            <a:pPr indent="0" marL="0">
              <a:buNone/>
            </a:pPr>
            <a:r>
              <a:rPr lang="en-US" sz="1300" b="1" dirty="0">
                <a:solidFill>
                  <a:srgbClr val="0B2239"/>
                </a:solidFill>
              </a:rPr>
              <a:t>Differences</a:t>
            </a:r>
            <a:endParaRPr lang="en-US" sz="1300" dirty="0"/>
          </a:p>
        </p:txBody>
      </p:sp>
      <p:sp>
        <p:nvSpPr>
          <p:cNvPr id="15" name="Text 13"/>
          <p:cNvSpPr txBox="1"/>
          <p:nvPr/>
        </p:nvSpPr>
        <p:spPr>
          <a:xfrm>
            <a:off x="4791456" y="2185416"/>
            <a:ext cx="1600200" cy="292608"/>
          </a:xfrm>
          <a:prstGeom prst="rect">
            <a:avLst/>
          </a:prstGeom>
          <a:noFill/>
          <a:ln/>
        </p:spPr>
        <p:txBody>
          <a:bodyPr wrap="square" lIns="0" tIns="0" rIns="0" bIns="0" rtlCol="0" anchor="t"/>
          <a:lstStyle/>
          <a:p>
            <a:pPr indent="0" marL="0">
              <a:buNone/>
            </a:pPr>
            <a:r>
              <a:rPr lang="en-US" sz="1050" dirty="0">
                <a:solidFill>
                  <a:srgbClr val="667788"/>
                </a:solidFill>
              </a:rPr>
              <a:t>1-day and 3-day changes</a:t>
            </a:r>
            <a:endParaRPr lang="en-US" sz="1050" dirty="0"/>
          </a:p>
        </p:txBody>
      </p:sp>
      <p:sp>
        <p:nvSpPr>
          <p:cNvPr id="16" name="group-3"/>
          <p:cNvSpPr/>
          <p:nvPr/>
        </p:nvSpPr>
        <p:spPr>
          <a:xfrm>
            <a:off x="6638544" y="1325880"/>
            <a:ext cx="1892808" cy="1207008"/>
          </a:xfrm>
          <a:prstGeom prst="roundRect">
            <a:avLst>
              <a:gd name="adj" fmla="val 4545"/>
            </a:avLst>
          </a:prstGeom>
          <a:solidFill>
            <a:srgbClr val="FFFFFF"/>
          </a:solidFill>
          <a:ln w="12700">
            <a:solidFill>
              <a:srgbClr val="E2E8EE"/>
            </a:solidFill>
            <a:prstDash val="solid"/>
          </a:ln>
        </p:spPr>
      </p:sp>
      <p:sp>
        <p:nvSpPr>
          <p:cNvPr id="17" name="Text 15"/>
          <p:cNvSpPr txBox="1"/>
          <p:nvPr/>
        </p:nvSpPr>
        <p:spPr>
          <a:xfrm>
            <a:off x="6821424" y="1435608"/>
            <a:ext cx="1554480" cy="457200"/>
          </a:xfrm>
          <a:prstGeom prst="rect">
            <a:avLst/>
          </a:prstGeom>
          <a:noFill/>
          <a:ln/>
        </p:spPr>
        <p:txBody>
          <a:bodyPr wrap="square" lIns="0" tIns="0" rIns="0" bIns="0" rtlCol="0" anchor="b"/>
          <a:lstStyle/>
          <a:p>
            <a:pPr indent="0" marL="0">
              <a:buNone/>
            </a:pPr>
            <a:r>
              <a:rPr lang="en-US" sz="2600" b="1" dirty="0">
                <a:solidFill>
                  <a:srgbClr val="2A78D6"/>
                </a:solidFill>
              </a:rPr>
              <a:t>24</a:t>
            </a:r>
            <a:endParaRPr lang="en-US" sz="2600" dirty="0"/>
          </a:p>
        </p:txBody>
      </p:sp>
      <p:sp>
        <p:nvSpPr>
          <p:cNvPr id="18" name="Text 16"/>
          <p:cNvSpPr txBox="1"/>
          <p:nvPr/>
        </p:nvSpPr>
        <p:spPr>
          <a:xfrm>
            <a:off x="6821424" y="1929384"/>
            <a:ext cx="1600200" cy="256032"/>
          </a:xfrm>
          <a:prstGeom prst="rect">
            <a:avLst/>
          </a:prstGeom>
          <a:noFill/>
          <a:ln/>
        </p:spPr>
        <p:txBody>
          <a:bodyPr wrap="square" lIns="0" tIns="0" rIns="0" bIns="0" rtlCol="0" anchor="t"/>
          <a:lstStyle/>
          <a:p>
            <a:pPr indent="0" marL="0">
              <a:buNone/>
            </a:pPr>
            <a:r>
              <a:rPr lang="en-US" sz="1300" b="1" dirty="0">
                <a:solidFill>
                  <a:srgbClr val="0B2239"/>
                </a:solidFill>
              </a:rPr>
              <a:t>Rolling statistics</a:t>
            </a:r>
            <a:endParaRPr lang="en-US" sz="1300" dirty="0"/>
          </a:p>
        </p:txBody>
      </p:sp>
      <p:sp>
        <p:nvSpPr>
          <p:cNvPr id="19" name="Text 17"/>
          <p:cNvSpPr txBox="1"/>
          <p:nvPr/>
        </p:nvSpPr>
        <p:spPr>
          <a:xfrm>
            <a:off x="6821424" y="2185416"/>
            <a:ext cx="1600200" cy="292608"/>
          </a:xfrm>
          <a:prstGeom prst="rect">
            <a:avLst/>
          </a:prstGeom>
          <a:noFill/>
          <a:ln/>
        </p:spPr>
        <p:txBody>
          <a:bodyPr wrap="square" lIns="0" tIns="0" rIns="0" bIns="0" rtlCol="0" anchor="t"/>
          <a:lstStyle/>
          <a:p>
            <a:pPr indent="0" marL="0">
              <a:buNone/>
            </a:pPr>
            <a:r>
              <a:rPr lang="en-US" sz="1050" dirty="0">
                <a:solidFill>
                  <a:srgbClr val="667788"/>
                </a:solidFill>
              </a:rPr>
              <a:t>3, 7 and 14-day windows</a:t>
            </a:r>
            <a:endParaRPr lang="en-US" sz="1050" dirty="0"/>
          </a:p>
        </p:txBody>
      </p:sp>
      <p:sp>
        <p:nvSpPr>
          <p:cNvPr id="20" name="group-4"/>
          <p:cNvSpPr/>
          <p:nvPr/>
        </p:nvSpPr>
        <p:spPr>
          <a:xfrm>
            <a:off x="548640" y="2697480"/>
            <a:ext cx="1892808" cy="1207008"/>
          </a:xfrm>
          <a:prstGeom prst="roundRect">
            <a:avLst>
              <a:gd name="adj" fmla="val 4545"/>
            </a:avLst>
          </a:prstGeom>
          <a:solidFill>
            <a:srgbClr val="FFFFFF"/>
          </a:solidFill>
          <a:ln w="12700">
            <a:solidFill>
              <a:srgbClr val="E2E8EE"/>
            </a:solidFill>
            <a:prstDash val="solid"/>
          </a:ln>
        </p:spPr>
      </p:sp>
      <p:sp>
        <p:nvSpPr>
          <p:cNvPr id="21" name="Text 19"/>
          <p:cNvSpPr txBox="1"/>
          <p:nvPr/>
        </p:nvSpPr>
        <p:spPr>
          <a:xfrm>
            <a:off x="731520" y="2807208"/>
            <a:ext cx="1554480" cy="457200"/>
          </a:xfrm>
          <a:prstGeom prst="rect">
            <a:avLst/>
          </a:prstGeom>
          <a:noFill/>
          <a:ln/>
        </p:spPr>
        <p:txBody>
          <a:bodyPr wrap="square" lIns="0" tIns="0" rIns="0" bIns="0" rtlCol="0" anchor="b"/>
          <a:lstStyle/>
          <a:p>
            <a:pPr indent="0" marL="0">
              <a:buNone/>
            </a:pPr>
            <a:r>
              <a:rPr lang="en-US" sz="2600" b="1" dirty="0">
                <a:solidFill>
                  <a:srgbClr val="2A78D6"/>
                </a:solidFill>
              </a:rPr>
              <a:t>3</a:t>
            </a:r>
            <a:endParaRPr lang="en-US" sz="2600" dirty="0"/>
          </a:p>
        </p:txBody>
      </p:sp>
      <p:sp>
        <p:nvSpPr>
          <p:cNvPr id="22" name="Text 20"/>
          <p:cNvSpPr txBox="1"/>
          <p:nvPr/>
        </p:nvSpPr>
        <p:spPr>
          <a:xfrm>
            <a:off x="731520" y="3300984"/>
            <a:ext cx="1600200" cy="256032"/>
          </a:xfrm>
          <a:prstGeom prst="rect">
            <a:avLst/>
          </a:prstGeom>
          <a:noFill/>
          <a:ln/>
        </p:spPr>
        <p:txBody>
          <a:bodyPr wrap="square" lIns="0" tIns="0" rIns="0" bIns="0" rtlCol="0" anchor="t"/>
          <a:lstStyle/>
          <a:p>
            <a:pPr indent="0" marL="0">
              <a:buNone/>
            </a:pPr>
            <a:r>
              <a:rPr lang="en-US" sz="1300" b="1" dirty="0">
                <a:solidFill>
                  <a:srgbClr val="0B2239"/>
                </a:solidFill>
              </a:rPr>
              <a:t>Physical</a:t>
            </a:r>
            <a:endParaRPr lang="en-US" sz="1300" dirty="0"/>
          </a:p>
        </p:txBody>
      </p:sp>
      <p:sp>
        <p:nvSpPr>
          <p:cNvPr id="23" name="Text 21"/>
          <p:cNvSpPr txBox="1"/>
          <p:nvPr/>
        </p:nvSpPr>
        <p:spPr>
          <a:xfrm>
            <a:off x="731520" y="3557016"/>
            <a:ext cx="1600200" cy="292608"/>
          </a:xfrm>
          <a:prstGeom prst="rect">
            <a:avLst/>
          </a:prstGeom>
          <a:noFill/>
          <a:ln/>
        </p:spPr>
        <p:txBody>
          <a:bodyPr wrap="square" lIns="0" tIns="0" rIns="0" bIns="0" rtlCol="0" anchor="t"/>
          <a:lstStyle/>
          <a:p>
            <a:pPr indent="0" marL="0">
              <a:buNone/>
            </a:pPr>
            <a:r>
              <a:rPr lang="en-US" sz="1050" dirty="0">
                <a:solidFill>
                  <a:srgbClr val="667788"/>
                </a:solidFill>
              </a:rPr>
              <a:t>diurnal range, dew-point depression</a:t>
            </a:r>
            <a:endParaRPr lang="en-US" sz="1050" dirty="0"/>
          </a:p>
        </p:txBody>
      </p:sp>
      <p:sp>
        <p:nvSpPr>
          <p:cNvPr id="24" name="group-5"/>
          <p:cNvSpPr/>
          <p:nvPr/>
        </p:nvSpPr>
        <p:spPr>
          <a:xfrm>
            <a:off x="2578608" y="2697480"/>
            <a:ext cx="1892808" cy="1207008"/>
          </a:xfrm>
          <a:prstGeom prst="roundRect">
            <a:avLst>
              <a:gd name="adj" fmla="val 4545"/>
            </a:avLst>
          </a:prstGeom>
          <a:solidFill>
            <a:srgbClr val="FFFFFF"/>
          </a:solidFill>
          <a:ln w="12700">
            <a:solidFill>
              <a:srgbClr val="E2E8EE"/>
            </a:solidFill>
            <a:prstDash val="solid"/>
          </a:ln>
        </p:spPr>
      </p:sp>
      <p:sp>
        <p:nvSpPr>
          <p:cNvPr id="25" name="Text 23"/>
          <p:cNvSpPr txBox="1"/>
          <p:nvPr/>
        </p:nvSpPr>
        <p:spPr>
          <a:xfrm>
            <a:off x="2761488" y="2807208"/>
            <a:ext cx="1554480" cy="457200"/>
          </a:xfrm>
          <a:prstGeom prst="rect">
            <a:avLst/>
          </a:prstGeom>
          <a:noFill/>
          <a:ln/>
        </p:spPr>
        <p:txBody>
          <a:bodyPr wrap="square" lIns="0" tIns="0" rIns="0" bIns="0" rtlCol="0" anchor="b"/>
          <a:lstStyle/>
          <a:p>
            <a:pPr indent="0" marL="0">
              <a:buNone/>
            </a:pPr>
            <a:r>
              <a:rPr lang="en-US" sz="2600" b="1" dirty="0">
                <a:solidFill>
                  <a:srgbClr val="2A78D6"/>
                </a:solidFill>
              </a:rPr>
              <a:t>4</a:t>
            </a:r>
            <a:endParaRPr lang="en-US" sz="2600" dirty="0"/>
          </a:p>
        </p:txBody>
      </p:sp>
      <p:sp>
        <p:nvSpPr>
          <p:cNvPr id="26" name="Text 24"/>
          <p:cNvSpPr txBox="1"/>
          <p:nvPr/>
        </p:nvSpPr>
        <p:spPr>
          <a:xfrm>
            <a:off x="2761488" y="3300984"/>
            <a:ext cx="1600200" cy="256032"/>
          </a:xfrm>
          <a:prstGeom prst="rect">
            <a:avLst/>
          </a:prstGeom>
          <a:noFill/>
          <a:ln/>
        </p:spPr>
        <p:txBody>
          <a:bodyPr wrap="square" lIns="0" tIns="0" rIns="0" bIns="0" rtlCol="0" anchor="t"/>
          <a:lstStyle/>
          <a:p>
            <a:pPr indent="0" marL="0">
              <a:buNone/>
            </a:pPr>
            <a:r>
              <a:rPr lang="en-US" sz="1300" b="1" dirty="0">
                <a:solidFill>
                  <a:srgbClr val="0B2239"/>
                </a:solidFill>
              </a:rPr>
              <a:t>Seasonality</a:t>
            </a:r>
            <a:endParaRPr lang="en-US" sz="1300" dirty="0"/>
          </a:p>
        </p:txBody>
      </p:sp>
      <p:sp>
        <p:nvSpPr>
          <p:cNvPr id="27" name="Text 25"/>
          <p:cNvSpPr txBox="1"/>
          <p:nvPr/>
        </p:nvSpPr>
        <p:spPr>
          <a:xfrm>
            <a:off x="2761488" y="3557016"/>
            <a:ext cx="1600200" cy="292608"/>
          </a:xfrm>
          <a:prstGeom prst="rect">
            <a:avLst/>
          </a:prstGeom>
          <a:noFill/>
          <a:ln/>
        </p:spPr>
        <p:txBody>
          <a:bodyPr wrap="square" lIns="0" tIns="0" rIns="0" bIns="0" rtlCol="0" anchor="t"/>
          <a:lstStyle/>
          <a:p>
            <a:pPr indent="0" marL="0">
              <a:buNone/>
            </a:pPr>
            <a:r>
              <a:rPr lang="en-US" sz="1050" dirty="0">
                <a:solidFill>
                  <a:srgbClr val="667788"/>
                </a:solidFill>
              </a:rPr>
              <a:t>sine and cosine of day and month</a:t>
            </a:r>
            <a:endParaRPr lang="en-US" sz="1050" dirty="0"/>
          </a:p>
        </p:txBody>
      </p:sp>
      <p:sp>
        <p:nvSpPr>
          <p:cNvPr id="28" name="group-6"/>
          <p:cNvSpPr/>
          <p:nvPr/>
        </p:nvSpPr>
        <p:spPr>
          <a:xfrm>
            <a:off x="4608576" y="2697480"/>
            <a:ext cx="1892808" cy="1207008"/>
          </a:xfrm>
          <a:prstGeom prst="roundRect">
            <a:avLst>
              <a:gd name="adj" fmla="val 4545"/>
            </a:avLst>
          </a:prstGeom>
          <a:solidFill>
            <a:srgbClr val="FFFFFF"/>
          </a:solidFill>
          <a:ln w="12700">
            <a:solidFill>
              <a:srgbClr val="E2E8EE"/>
            </a:solidFill>
            <a:prstDash val="solid"/>
          </a:ln>
        </p:spPr>
      </p:sp>
      <p:sp>
        <p:nvSpPr>
          <p:cNvPr id="29" name="Text 27"/>
          <p:cNvSpPr txBox="1"/>
          <p:nvPr/>
        </p:nvSpPr>
        <p:spPr>
          <a:xfrm>
            <a:off x="4791456" y="2807208"/>
            <a:ext cx="1554480" cy="457200"/>
          </a:xfrm>
          <a:prstGeom prst="rect">
            <a:avLst/>
          </a:prstGeom>
          <a:noFill/>
          <a:ln/>
        </p:spPr>
        <p:txBody>
          <a:bodyPr wrap="square" lIns="0" tIns="0" rIns="0" bIns="0" rtlCol="0" anchor="b"/>
          <a:lstStyle/>
          <a:p>
            <a:pPr indent="0" marL="0">
              <a:buNone/>
            </a:pPr>
            <a:r>
              <a:rPr lang="en-US" sz="2600" b="1" dirty="0">
                <a:solidFill>
                  <a:srgbClr val="2A78D6"/>
                </a:solidFill>
              </a:rPr>
              <a:t>2</a:t>
            </a:r>
            <a:endParaRPr lang="en-US" sz="2600" dirty="0"/>
          </a:p>
        </p:txBody>
      </p:sp>
      <p:sp>
        <p:nvSpPr>
          <p:cNvPr id="30" name="Text 28"/>
          <p:cNvSpPr txBox="1"/>
          <p:nvPr/>
        </p:nvSpPr>
        <p:spPr>
          <a:xfrm>
            <a:off x="4791456" y="3300984"/>
            <a:ext cx="1600200" cy="256032"/>
          </a:xfrm>
          <a:prstGeom prst="rect">
            <a:avLst/>
          </a:prstGeom>
          <a:noFill/>
          <a:ln/>
        </p:spPr>
        <p:txBody>
          <a:bodyPr wrap="square" lIns="0" tIns="0" rIns="0" bIns="0" rtlCol="0" anchor="t"/>
          <a:lstStyle/>
          <a:p>
            <a:pPr indent="0" marL="0">
              <a:buNone/>
            </a:pPr>
            <a:r>
              <a:rPr lang="en-US" sz="1300" b="1" dirty="0">
                <a:solidFill>
                  <a:srgbClr val="0B2239"/>
                </a:solidFill>
              </a:rPr>
              <a:t>Wind direction</a:t>
            </a:r>
            <a:endParaRPr lang="en-US" sz="1300" dirty="0"/>
          </a:p>
        </p:txBody>
      </p:sp>
      <p:sp>
        <p:nvSpPr>
          <p:cNvPr id="31" name="Text 29"/>
          <p:cNvSpPr txBox="1"/>
          <p:nvPr/>
        </p:nvSpPr>
        <p:spPr>
          <a:xfrm>
            <a:off x="4791456" y="3557016"/>
            <a:ext cx="1600200" cy="292608"/>
          </a:xfrm>
          <a:prstGeom prst="rect">
            <a:avLst/>
          </a:prstGeom>
          <a:noFill/>
          <a:ln/>
        </p:spPr>
        <p:txBody>
          <a:bodyPr wrap="square" lIns="0" tIns="0" rIns="0" bIns="0" rtlCol="0" anchor="t"/>
          <a:lstStyle/>
          <a:p>
            <a:pPr indent="0" marL="0">
              <a:buNone/>
            </a:pPr>
            <a:r>
              <a:rPr lang="en-US" sz="1050" dirty="0">
                <a:solidFill>
                  <a:srgbClr val="667788"/>
                </a:solidFill>
              </a:rPr>
              <a:t>sine and cosine, so 359° ≈ 1°</a:t>
            </a:r>
            <a:endParaRPr lang="en-US" sz="1050" dirty="0"/>
          </a:p>
        </p:txBody>
      </p:sp>
      <p:sp>
        <p:nvSpPr>
          <p:cNvPr id="32" name="group-7"/>
          <p:cNvSpPr/>
          <p:nvPr/>
        </p:nvSpPr>
        <p:spPr>
          <a:xfrm>
            <a:off x="6638544" y="2697480"/>
            <a:ext cx="1892808" cy="1207008"/>
          </a:xfrm>
          <a:prstGeom prst="roundRect">
            <a:avLst>
              <a:gd name="adj" fmla="val 4545"/>
            </a:avLst>
          </a:prstGeom>
          <a:solidFill>
            <a:srgbClr val="FFFFFF"/>
          </a:solidFill>
          <a:ln w="12700">
            <a:solidFill>
              <a:srgbClr val="E2E8EE"/>
            </a:solidFill>
            <a:prstDash val="solid"/>
          </a:ln>
        </p:spPr>
      </p:sp>
      <p:sp>
        <p:nvSpPr>
          <p:cNvPr id="33" name="Text 31"/>
          <p:cNvSpPr txBox="1"/>
          <p:nvPr/>
        </p:nvSpPr>
        <p:spPr>
          <a:xfrm>
            <a:off x="6821424" y="2807208"/>
            <a:ext cx="1554480" cy="457200"/>
          </a:xfrm>
          <a:prstGeom prst="rect">
            <a:avLst/>
          </a:prstGeom>
          <a:noFill/>
          <a:ln/>
        </p:spPr>
        <p:txBody>
          <a:bodyPr wrap="square" lIns="0" tIns="0" rIns="0" bIns="0" rtlCol="0" anchor="b"/>
          <a:lstStyle/>
          <a:p>
            <a:pPr indent="0" marL="0">
              <a:buNone/>
            </a:pPr>
            <a:r>
              <a:rPr lang="en-US" sz="2600" b="1" dirty="0">
                <a:solidFill>
                  <a:srgbClr val="2A78D6"/>
                </a:solidFill>
              </a:rPr>
              <a:t>4</a:t>
            </a:r>
            <a:endParaRPr lang="en-US" sz="2600" dirty="0"/>
          </a:p>
        </p:txBody>
      </p:sp>
      <p:sp>
        <p:nvSpPr>
          <p:cNvPr id="34" name="Text 32"/>
          <p:cNvSpPr txBox="1"/>
          <p:nvPr/>
        </p:nvSpPr>
        <p:spPr>
          <a:xfrm>
            <a:off x="6821424" y="3300984"/>
            <a:ext cx="1600200" cy="256032"/>
          </a:xfrm>
          <a:prstGeom prst="rect">
            <a:avLst/>
          </a:prstGeom>
          <a:noFill/>
          <a:ln/>
        </p:spPr>
        <p:txBody>
          <a:bodyPr wrap="square" lIns="0" tIns="0" rIns="0" bIns="0" rtlCol="0" anchor="t"/>
          <a:lstStyle/>
          <a:p>
            <a:pPr indent="0" marL="0">
              <a:buNone/>
            </a:pPr>
            <a:r>
              <a:rPr lang="en-US" sz="1300" b="1" dirty="0">
                <a:solidFill>
                  <a:srgbClr val="0B2239"/>
                </a:solidFill>
              </a:rPr>
              <a:t>Today's class</a:t>
            </a:r>
            <a:endParaRPr lang="en-US" sz="1300" dirty="0"/>
          </a:p>
        </p:txBody>
      </p:sp>
      <p:sp>
        <p:nvSpPr>
          <p:cNvPr id="35" name="Text 33"/>
          <p:cNvSpPr txBox="1"/>
          <p:nvPr/>
        </p:nvSpPr>
        <p:spPr>
          <a:xfrm>
            <a:off x="6821424" y="3557016"/>
            <a:ext cx="1600200" cy="292608"/>
          </a:xfrm>
          <a:prstGeom prst="rect">
            <a:avLst/>
          </a:prstGeom>
          <a:noFill/>
          <a:ln/>
        </p:spPr>
        <p:txBody>
          <a:bodyPr wrap="square" lIns="0" tIns="0" rIns="0" bIns="0" rtlCol="0" anchor="t"/>
          <a:lstStyle/>
          <a:p>
            <a:pPr indent="0" marL="0">
              <a:buNone/>
            </a:pPr>
            <a:r>
              <a:rPr lang="en-US" sz="1050" dirty="0">
                <a:solidFill>
                  <a:srgbClr val="667788"/>
                </a:solidFill>
              </a:rPr>
              <a:t>one-hot persistence</a:t>
            </a:r>
            <a:endParaRPr lang="en-US" sz="1050" dirty="0"/>
          </a:p>
        </p:txBody>
      </p:sp>
      <p:sp>
        <p:nvSpPr>
          <p:cNvPr id="36" name="Text 34"/>
          <p:cNvSpPr txBox="1"/>
          <p:nvPr/>
        </p:nvSpPr>
        <p:spPr>
          <a:xfrm>
            <a:off x="548640" y="4160520"/>
            <a:ext cx="8046720" cy="365760"/>
          </a:xfrm>
          <a:prstGeom prst="rect">
            <a:avLst/>
          </a:prstGeom>
          <a:noFill/>
          <a:ln/>
        </p:spPr>
        <p:txBody>
          <a:bodyPr wrap="square" lIns="0" tIns="0" rIns="0" bIns="0" rtlCol="0" anchor="t"/>
          <a:lstStyle/>
          <a:p>
            <a:pPr indent="0" marL="0">
              <a:buNone/>
            </a:pPr>
            <a:r>
              <a:rPr lang="en-US" sz="1200" i="1" dirty="0">
                <a:solidFill>
                  <a:srgbClr val="667788"/>
                </a:solidFill>
              </a:rPr>
              <a:t>Leakage checks pass: target(t) equals Tmax(t+1) in 100% of rows, and no feature copies the target (max |r| = 0.939).</a:t>
            </a:r>
            <a:endParaRPr lang="en-US" sz="1200" dirty="0"/>
          </a:p>
        </p:txBody>
      </p:sp>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AB5C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000" b="1" spc="300" kern="0" dirty="0">
                <a:solidFill>
                  <a:srgbClr val="2A78D6"/>
                </a:solidFill>
              </a:rPr>
              <a:t>EVALUATION</a:t>
            </a:r>
            <a:endParaRPr lang="en-US" sz="10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600" b="1" dirty="0">
                <a:solidFill>
                  <a:srgbClr val="0B2239"/>
                </a:solidFill>
              </a:rPr>
              <a:t>Evaluation respects time</a:t>
            </a:r>
            <a:endParaRPr lang="en-US" sz="2600" dirty="0"/>
          </a:p>
        </p:txBody>
      </p:sp>
      <p:sp>
        <p:nvSpPr>
          <p:cNvPr id="4" name="split-Train"/>
          <p:cNvSpPr/>
          <p:nvPr/>
        </p:nvSpPr>
        <p:spPr>
          <a:xfrm>
            <a:off x="548640" y="1325880"/>
            <a:ext cx="5327904" cy="384048"/>
          </a:xfrm>
          <a:prstGeom prst="rect">
            <a:avLst/>
          </a:prstGeom>
          <a:solidFill>
            <a:srgbClr val="2A78D6"/>
          </a:solidFill>
          <a:ln w="12700">
            <a:solidFill>
              <a:srgbClr val="2A78D6"/>
            </a:solidFill>
            <a:prstDash val="solid"/>
          </a:ln>
        </p:spPr>
      </p:sp>
      <p:sp>
        <p:nvSpPr>
          <p:cNvPr id="5" name="Text 3"/>
          <p:cNvSpPr txBox="1"/>
          <p:nvPr/>
        </p:nvSpPr>
        <p:spPr>
          <a:xfrm>
            <a:off x="658368" y="1325880"/>
            <a:ext cx="5181600" cy="384048"/>
          </a:xfrm>
          <a:prstGeom prst="rect">
            <a:avLst/>
          </a:prstGeom>
          <a:noFill/>
          <a:ln/>
        </p:spPr>
        <p:txBody>
          <a:bodyPr wrap="square" lIns="0" tIns="0" rIns="0" bIns="0" rtlCol="0" anchor="ctr"/>
          <a:lstStyle/>
          <a:p>
            <a:pPr indent="0" marL="0">
              <a:buNone/>
            </a:pPr>
            <a:r>
              <a:rPr lang="en-US" sz="1200" b="1" dirty="0">
                <a:solidFill>
                  <a:srgbClr val="FFFFFF"/>
                </a:solidFill>
              </a:rPr>
              <a:t>Train</a:t>
            </a:r>
            <a:endParaRPr lang="en-US" sz="1200" dirty="0"/>
          </a:p>
        </p:txBody>
      </p:sp>
      <p:sp>
        <p:nvSpPr>
          <p:cNvPr id="6" name="Text 4"/>
          <p:cNvSpPr txBox="1"/>
          <p:nvPr/>
        </p:nvSpPr>
        <p:spPr>
          <a:xfrm>
            <a:off x="548640" y="1783080"/>
            <a:ext cx="5364480" cy="256032"/>
          </a:xfrm>
          <a:prstGeom prst="rect">
            <a:avLst/>
          </a:prstGeom>
          <a:noFill/>
          <a:ln/>
        </p:spPr>
        <p:txBody>
          <a:bodyPr wrap="square" lIns="0" tIns="0" rIns="0" bIns="0" rtlCol="0" anchor="t"/>
          <a:lstStyle/>
          <a:p>
            <a:pPr indent="0" marL="0">
              <a:buNone/>
            </a:pPr>
            <a:r>
              <a:rPr lang="en-US" sz="1050" dirty="0">
                <a:solidFill>
                  <a:srgbClr val="667788"/>
                </a:solidFill>
              </a:rPr>
              <a:t>2014–2021 · 2,892 days</a:t>
            </a:r>
            <a:endParaRPr lang="en-US" sz="1050" dirty="0"/>
          </a:p>
        </p:txBody>
      </p:sp>
      <p:sp>
        <p:nvSpPr>
          <p:cNvPr id="7" name="split-Validation"/>
          <p:cNvSpPr/>
          <p:nvPr/>
        </p:nvSpPr>
        <p:spPr>
          <a:xfrm>
            <a:off x="5913120" y="1325880"/>
            <a:ext cx="1304544" cy="384048"/>
          </a:xfrm>
          <a:prstGeom prst="rect">
            <a:avLst/>
          </a:prstGeom>
          <a:solidFill>
            <a:srgbClr val="EDA100"/>
          </a:solidFill>
          <a:ln w="12700">
            <a:solidFill>
              <a:srgbClr val="EDA100"/>
            </a:solidFill>
            <a:prstDash val="solid"/>
          </a:ln>
        </p:spPr>
      </p:sp>
      <p:sp>
        <p:nvSpPr>
          <p:cNvPr id="8" name="Text 6"/>
          <p:cNvSpPr txBox="1"/>
          <p:nvPr/>
        </p:nvSpPr>
        <p:spPr>
          <a:xfrm>
            <a:off x="6022848" y="1325880"/>
            <a:ext cx="1158240" cy="384048"/>
          </a:xfrm>
          <a:prstGeom prst="rect">
            <a:avLst/>
          </a:prstGeom>
          <a:noFill/>
          <a:ln/>
        </p:spPr>
        <p:txBody>
          <a:bodyPr wrap="square" lIns="0" tIns="0" rIns="0" bIns="0" rtlCol="0" anchor="ctr"/>
          <a:lstStyle/>
          <a:p>
            <a:pPr indent="0" marL="0">
              <a:buNone/>
            </a:pPr>
            <a:r>
              <a:rPr lang="en-US" sz="1200" b="1" dirty="0">
                <a:solidFill>
                  <a:srgbClr val="FFFFFF"/>
                </a:solidFill>
              </a:rPr>
              <a:t>Validation</a:t>
            </a:r>
            <a:endParaRPr lang="en-US" sz="1200" dirty="0"/>
          </a:p>
        </p:txBody>
      </p:sp>
      <p:sp>
        <p:nvSpPr>
          <p:cNvPr id="9" name="Text 7"/>
          <p:cNvSpPr txBox="1"/>
          <p:nvPr/>
        </p:nvSpPr>
        <p:spPr>
          <a:xfrm>
            <a:off x="5913120" y="1783080"/>
            <a:ext cx="1341120" cy="256032"/>
          </a:xfrm>
          <a:prstGeom prst="rect">
            <a:avLst/>
          </a:prstGeom>
          <a:noFill/>
          <a:ln/>
        </p:spPr>
        <p:txBody>
          <a:bodyPr wrap="square" lIns="0" tIns="0" rIns="0" bIns="0" rtlCol="0" anchor="t"/>
          <a:lstStyle/>
          <a:p>
            <a:pPr indent="0" marL="0">
              <a:buNone/>
            </a:pPr>
            <a:r>
              <a:rPr lang="en-US" sz="1050" dirty="0">
                <a:solidFill>
                  <a:srgbClr val="667788"/>
                </a:solidFill>
              </a:rPr>
              <a:t>2022–23 · 730 days</a:t>
            </a:r>
            <a:endParaRPr lang="en-US" sz="1050" dirty="0"/>
          </a:p>
        </p:txBody>
      </p:sp>
      <p:sp>
        <p:nvSpPr>
          <p:cNvPr id="10" name="split-Test"/>
          <p:cNvSpPr/>
          <p:nvPr/>
        </p:nvSpPr>
        <p:spPr>
          <a:xfrm>
            <a:off x="7254240" y="1325880"/>
            <a:ext cx="1304544" cy="384048"/>
          </a:xfrm>
          <a:prstGeom prst="rect">
            <a:avLst/>
          </a:prstGeom>
          <a:solidFill>
            <a:srgbClr val="EB6834"/>
          </a:solidFill>
          <a:ln w="12700">
            <a:solidFill>
              <a:srgbClr val="EB6834"/>
            </a:solidFill>
            <a:prstDash val="solid"/>
          </a:ln>
        </p:spPr>
      </p:sp>
      <p:sp>
        <p:nvSpPr>
          <p:cNvPr id="11" name="Text 9"/>
          <p:cNvSpPr txBox="1"/>
          <p:nvPr/>
        </p:nvSpPr>
        <p:spPr>
          <a:xfrm>
            <a:off x="7363968" y="1325880"/>
            <a:ext cx="1158240" cy="384048"/>
          </a:xfrm>
          <a:prstGeom prst="rect">
            <a:avLst/>
          </a:prstGeom>
          <a:noFill/>
          <a:ln/>
        </p:spPr>
        <p:txBody>
          <a:bodyPr wrap="square" lIns="0" tIns="0" rIns="0" bIns="0" rtlCol="0" anchor="ctr"/>
          <a:lstStyle/>
          <a:p>
            <a:pPr indent="0" marL="0">
              <a:buNone/>
            </a:pPr>
            <a:r>
              <a:rPr lang="en-US" sz="1200" b="1" dirty="0">
                <a:solidFill>
                  <a:srgbClr val="FFFFFF"/>
                </a:solidFill>
              </a:rPr>
              <a:t>Test</a:t>
            </a:r>
            <a:endParaRPr lang="en-US" sz="1200" dirty="0"/>
          </a:p>
        </p:txBody>
      </p:sp>
      <p:sp>
        <p:nvSpPr>
          <p:cNvPr id="12" name="Text 10"/>
          <p:cNvSpPr txBox="1"/>
          <p:nvPr/>
        </p:nvSpPr>
        <p:spPr>
          <a:xfrm>
            <a:off x="7254240" y="1783080"/>
            <a:ext cx="1341120" cy="256032"/>
          </a:xfrm>
          <a:prstGeom prst="rect">
            <a:avLst/>
          </a:prstGeom>
          <a:noFill/>
          <a:ln/>
        </p:spPr>
        <p:txBody>
          <a:bodyPr wrap="square" lIns="0" tIns="0" rIns="0" bIns="0" rtlCol="0" anchor="t"/>
          <a:lstStyle/>
          <a:p>
            <a:pPr indent="0" marL="0">
              <a:buNone/>
            </a:pPr>
            <a:r>
              <a:rPr lang="en-US" sz="1050" dirty="0">
                <a:solidFill>
                  <a:srgbClr val="667788"/>
                </a:solidFill>
              </a:rPr>
              <a:t>2024–25 · 731 days</a:t>
            </a:r>
            <a:endParaRPr lang="en-US" sz="1050" dirty="0"/>
          </a:p>
        </p:txBody>
      </p:sp>
      <p:sp>
        <p:nvSpPr>
          <p:cNvPr id="13" name="Text 11"/>
          <p:cNvSpPr txBox="1"/>
          <p:nvPr/>
        </p:nvSpPr>
        <p:spPr>
          <a:xfrm>
            <a:off x="548640" y="2331720"/>
            <a:ext cx="4572000" cy="274320"/>
          </a:xfrm>
          <a:prstGeom prst="rect">
            <a:avLst/>
          </a:prstGeom>
          <a:noFill/>
          <a:ln/>
        </p:spPr>
        <p:txBody>
          <a:bodyPr wrap="square" lIns="0" tIns="0" rIns="0" bIns="0" rtlCol="0" anchor="t"/>
          <a:lstStyle/>
          <a:p>
            <a:pPr indent="0" marL="0">
              <a:buNone/>
            </a:pPr>
            <a:r>
              <a:rPr lang="en-US" sz="1400" b="1" dirty="0">
                <a:solidFill>
                  <a:srgbClr val="0B2239"/>
                </a:solidFill>
              </a:rPr>
              <a:t>Grid search over five time-ordered folds</a:t>
            </a:r>
            <a:endParaRPr lang="en-US" sz="1400" dirty="0"/>
          </a:p>
        </p:txBody>
      </p:sp>
      <p:sp>
        <p:nvSpPr>
          <p:cNvPr id="14" name="fold0-fit"/>
          <p:cNvSpPr/>
          <p:nvPr/>
        </p:nvSpPr>
        <p:spPr>
          <a:xfrm>
            <a:off x="548640" y="2743200"/>
            <a:ext cx="1005840" cy="182880"/>
          </a:xfrm>
          <a:prstGeom prst="rect">
            <a:avLst/>
          </a:prstGeom>
          <a:solidFill>
            <a:srgbClr val="A9C8EE"/>
          </a:solidFill>
          <a:ln w="12700">
            <a:solidFill>
              <a:srgbClr val="A9C8EE"/>
            </a:solidFill>
            <a:prstDash val="solid"/>
          </a:ln>
        </p:spPr>
      </p:sp>
      <p:sp>
        <p:nvSpPr>
          <p:cNvPr id="15" name="fold0-score"/>
          <p:cNvSpPr/>
          <p:nvPr/>
        </p:nvSpPr>
        <p:spPr>
          <a:xfrm>
            <a:off x="1609344" y="2743200"/>
            <a:ext cx="502920" cy="182880"/>
          </a:xfrm>
          <a:prstGeom prst="rect">
            <a:avLst/>
          </a:prstGeom>
          <a:solidFill>
            <a:srgbClr val="EB6834"/>
          </a:solidFill>
          <a:ln w="12700">
            <a:solidFill>
              <a:srgbClr val="EB6834"/>
            </a:solidFill>
            <a:prstDash val="solid"/>
          </a:ln>
        </p:spPr>
      </p:sp>
      <p:sp>
        <p:nvSpPr>
          <p:cNvPr id="16" name="fold1-fit"/>
          <p:cNvSpPr/>
          <p:nvPr/>
        </p:nvSpPr>
        <p:spPr>
          <a:xfrm>
            <a:off x="548640" y="3044952"/>
            <a:ext cx="1554480" cy="182880"/>
          </a:xfrm>
          <a:prstGeom prst="rect">
            <a:avLst/>
          </a:prstGeom>
          <a:solidFill>
            <a:srgbClr val="A9C8EE"/>
          </a:solidFill>
          <a:ln w="12700">
            <a:solidFill>
              <a:srgbClr val="A9C8EE"/>
            </a:solidFill>
            <a:prstDash val="solid"/>
          </a:ln>
        </p:spPr>
      </p:sp>
      <p:sp>
        <p:nvSpPr>
          <p:cNvPr id="17" name="fold1-score"/>
          <p:cNvSpPr/>
          <p:nvPr/>
        </p:nvSpPr>
        <p:spPr>
          <a:xfrm>
            <a:off x="2157984" y="3044952"/>
            <a:ext cx="502920" cy="182880"/>
          </a:xfrm>
          <a:prstGeom prst="rect">
            <a:avLst/>
          </a:prstGeom>
          <a:solidFill>
            <a:srgbClr val="EB6834"/>
          </a:solidFill>
          <a:ln w="12700">
            <a:solidFill>
              <a:srgbClr val="EB6834"/>
            </a:solidFill>
            <a:prstDash val="solid"/>
          </a:ln>
        </p:spPr>
      </p:sp>
      <p:sp>
        <p:nvSpPr>
          <p:cNvPr id="18" name="fold2-fit"/>
          <p:cNvSpPr/>
          <p:nvPr/>
        </p:nvSpPr>
        <p:spPr>
          <a:xfrm>
            <a:off x="548640" y="3346704"/>
            <a:ext cx="2103120" cy="182880"/>
          </a:xfrm>
          <a:prstGeom prst="rect">
            <a:avLst/>
          </a:prstGeom>
          <a:solidFill>
            <a:srgbClr val="A9C8EE"/>
          </a:solidFill>
          <a:ln w="12700">
            <a:solidFill>
              <a:srgbClr val="A9C8EE"/>
            </a:solidFill>
            <a:prstDash val="solid"/>
          </a:ln>
        </p:spPr>
      </p:sp>
      <p:sp>
        <p:nvSpPr>
          <p:cNvPr id="19" name="fold2-score"/>
          <p:cNvSpPr/>
          <p:nvPr/>
        </p:nvSpPr>
        <p:spPr>
          <a:xfrm>
            <a:off x="2706624" y="3346704"/>
            <a:ext cx="502920" cy="182880"/>
          </a:xfrm>
          <a:prstGeom prst="rect">
            <a:avLst/>
          </a:prstGeom>
          <a:solidFill>
            <a:srgbClr val="EB6834"/>
          </a:solidFill>
          <a:ln w="12700">
            <a:solidFill>
              <a:srgbClr val="EB6834"/>
            </a:solidFill>
            <a:prstDash val="solid"/>
          </a:ln>
        </p:spPr>
      </p:sp>
      <p:sp>
        <p:nvSpPr>
          <p:cNvPr id="20" name="fold3-fit"/>
          <p:cNvSpPr/>
          <p:nvPr/>
        </p:nvSpPr>
        <p:spPr>
          <a:xfrm>
            <a:off x="548640" y="3648456"/>
            <a:ext cx="2651760" cy="182880"/>
          </a:xfrm>
          <a:prstGeom prst="rect">
            <a:avLst/>
          </a:prstGeom>
          <a:solidFill>
            <a:srgbClr val="A9C8EE"/>
          </a:solidFill>
          <a:ln w="12700">
            <a:solidFill>
              <a:srgbClr val="A9C8EE"/>
            </a:solidFill>
            <a:prstDash val="solid"/>
          </a:ln>
        </p:spPr>
      </p:sp>
      <p:sp>
        <p:nvSpPr>
          <p:cNvPr id="21" name="fold3-score"/>
          <p:cNvSpPr/>
          <p:nvPr/>
        </p:nvSpPr>
        <p:spPr>
          <a:xfrm>
            <a:off x="3255264" y="3648456"/>
            <a:ext cx="502920" cy="182880"/>
          </a:xfrm>
          <a:prstGeom prst="rect">
            <a:avLst/>
          </a:prstGeom>
          <a:solidFill>
            <a:srgbClr val="EB6834"/>
          </a:solidFill>
          <a:ln w="12700">
            <a:solidFill>
              <a:srgbClr val="EB6834"/>
            </a:solidFill>
            <a:prstDash val="solid"/>
          </a:ln>
        </p:spPr>
      </p:sp>
      <p:sp>
        <p:nvSpPr>
          <p:cNvPr id="22" name="fold4-fit"/>
          <p:cNvSpPr/>
          <p:nvPr/>
        </p:nvSpPr>
        <p:spPr>
          <a:xfrm>
            <a:off x="548640" y="3950208"/>
            <a:ext cx="3200400" cy="182880"/>
          </a:xfrm>
          <a:prstGeom prst="rect">
            <a:avLst/>
          </a:prstGeom>
          <a:solidFill>
            <a:srgbClr val="A9C8EE"/>
          </a:solidFill>
          <a:ln w="12700">
            <a:solidFill>
              <a:srgbClr val="A9C8EE"/>
            </a:solidFill>
            <a:prstDash val="solid"/>
          </a:ln>
        </p:spPr>
      </p:sp>
      <p:sp>
        <p:nvSpPr>
          <p:cNvPr id="23" name="fold4-score"/>
          <p:cNvSpPr/>
          <p:nvPr/>
        </p:nvSpPr>
        <p:spPr>
          <a:xfrm>
            <a:off x="3803904" y="3950208"/>
            <a:ext cx="502920" cy="182880"/>
          </a:xfrm>
          <a:prstGeom prst="rect">
            <a:avLst/>
          </a:prstGeom>
          <a:solidFill>
            <a:srgbClr val="EB6834"/>
          </a:solidFill>
          <a:ln w="12700">
            <a:solidFill>
              <a:srgbClr val="EB6834"/>
            </a:solidFill>
            <a:prstDash val="solid"/>
          </a:ln>
        </p:spPr>
      </p:sp>
      <p:sp>
        <p:nvSpPr>
          <p:cNvPr id="24" name="Text 22"/>
          <p:cNvSpPr txBox="1"/>
          <p:nvPr/>
        </p:nvSpPr>
        <p:spPr>
          <a:xfrm>
            <a:off x="548640" y="4315968"/>
            <a:ext cx="4572000" cy="228600"/>
          </a:xfrm>
          <a:prstGeom prst="rect">
            <a:avLst/>
          </a:prstGeom>
          <a:noFill/>
          <a:ln/>
        </p:spPr>
        <p:txBody>
          <a:bodyPr wrap="square" lIns="0" tIns="0" rIns="0" bIns="0" rtlCol="0" anchor="t"/>
          <a:lstStyle/>
          <a:p>
            <a:pPr indent="0" marL="0">
              <a:buNone/>
            </a:pPr>
            <a:r>
              <a:rPr lang="en-US" sz="1100" b="1" dirty="0">
                <a:solidFill>
                  <a:srgbClr val="2A78D6"/>
                </a:solidFill>
              </a:rPr>
              <a:t>fit on the past</a:t>
            </a:r>
            <a:pPr indent="0" marL="0">
              <a:buNone/>
            </a:pPr>
            <a:r>
              <a:rPr lang="en-US" sz="1100" b="1" dirty="0">
                <a:solidFill>
                  <a:srgbClr val="EB6834"/>
                </a:solidFill>
              </a:rPr>
              <a:t>    score the next period</a:t>
            </a:r>
            <a:endParaRPr lang="en-US" sz="1100" dirty="0"/>
          </a:p>
        </p:txBody>
      </p:sp>
      <p:sp>
        <p:nvSpPr>
          <p:cNvPr id="25" name="Text 23"/>
          <p:cNvSpPr txBox="1"/>
          <p:nvPr/>
        </p:nvSpPr>
        <p:spPr>
          <a:xfrm>
            <a:off x="5394960" y="2331720"/>
            <a:ext cx="3200400" cy="22402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733"/>
                </a:solidFill>
              </a:rPr>
              <a:t>Split by the date being predicted: no future label reaches training</a:t>
            </a:r>
            <a:endParaRPr lang="en-US" sz="1250" dirty="0"/>
          </a:p>
          <a:p>
            <a:pPr marL="177800" indent="-177800">
              <a:spcAft>
                <a:spcPts val="800"/>
              </a:spcAft>
              <a:buSzPct val="100000"/>
              <a:buChar char="•"/>
            </a:pPr>
            <a:r>
              <a:rPr lang="en-US" sz="1250" dirty="0">
                <a:solidFill>
                  <a:srgbClr val="1B2733"/>
                </a:solidFill>
              </a:rPr>
              <a:t>A shuffled k-fold would train on the future and inflate scores</a:t>
            </a:r>
            <a:endParaRPr lang="en-US" sz="1250" dirty="0"/>
          </a:p>
          <a:p>
            <a:pPr marL="177800" indent="-177800">
              <a:spcAft>
                <a:spcPts val="800"/>
              </a:spcAft>
              <a:buSzPct val="100000"/>
              <a:buChar char="•"/>
            </a:pPr>
            <a:r>
              <a:rPr lang="en-US" sz="1250" dirty="0">
                <a:solidFill>
                  <a:srgbClr val="1B2733"/>
                </a:solidFill>
              </a:rPr>
              <a:t>Final model chosen on validation, then tested once</a:t>
            </a:r>
            <a:endParaRPr lang="en-US" sz="1250" dirty="0"/>
          </a:p>
          <a:p>
            <a:pPr marL="177800" indent="-177800">
              <a:spcAft>
                <a:spcPts val="800"/>
              </a:spcAft>
              <a:buSzPct val="100000"/>
              <a:buChar char="•"/>
            </a:pPr>
            <a:r>
              <a:rPr lang="en-US" sz="1250" dirty="0">
                <a:solidFill>
                  <a:srgbClr val="1B2733"/>
                </a:solidFill>
              </a:rPr>
              <a:t>7-day block bootstrap tests significance</a:t>
            </a:r>
            <a:endParaRPr lang="en-US" sz="1250" dirty="0"/>
          </a:p>
        </p:txBody>
      </p:sp>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AB5C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000" b="1" spc="300" kern="0" dirty="0">
                <a:solidFill>
                  <a:srgbClr val="2A78D6"/>
                </a:solidFill>
              </a:rPr>
              <a:t>RESULTS · REGRESSION</a:t>
            </a:r>
            <a:endParaRPr lang="en-US" sz="10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600" b="1" dirty="0">
                <a:solidFill>
                  <a:srgbClr val="0B2239"/>
                </a:solidFill>
              </a:rPr>
              <a:t>Nine regressors: the top three are within 0.002 °C</a:t>
            </a:r>
            <a:endParaRPr lang="en-US" sz="2600" dirty="0"/>
          </a:p>
        </p:txBody>
      </p:sp>
      <p:sp>
        <p:nvSpPr>
          <p:cNvPr id="4" name="Text 2"/>
          <p:cNvSpPr txBox="1"/>
          <p:nvPr/>
        </p:nvSpPr>
        <p:spPr>
          <a:xfrm>
            <a:off x="548640" y="1280160"/>
            <a:ext cx="5029200" cy="228600"/>
          </a:xfrm>
          <a:prstGeom prst="rect">
            <a:avLst/>
          </a:prstGeom>
          <a:noFill/>
          <a:ln/>
        </p:spPr>
        <p:txBody>
          <a:bodyPr wrap="square" lIns="0" tIns="0" rIns="0" bIns="0" rtlCol="0" anchor="t"/>
          <a:lstStyle/>
          <a:p>
            <a:pPr indent="0" marL="0">
              <a:buNone/>
            </a:pPr>
            <a:r>
              <a:rPr lang="en-US" sz="1100" dirty="0">
                <a:solidFill>
                  <a:srgbClr val="667788"/>
                </a:solidFill>
              </a:rPr>
              <a:t>Validation MAE for tomorrow's Tmax (°C) · axis starts at 0.9</a:t>
            </a:r>
            <a:endParaRPr lang="en-US" sz="1100" dirty="0"/>
          </a:p>
        </p:txBody>
      </p:sp>
      <p:sp>
        <p:nvSpPr>
          <p:cNvPr id="5" name="Text 3"/>
          <p:cNvSpPr txBox="1"/>
          <p:nvPr/>
        </p:nvSpPr>
        <p:spPr>
          <a:xfrm>
            <a:off x="548640" y="1627632"/>
            <a:ext cx="1508760" cy="219456"/>
          </a:xfrm>
          <a:prstGeom prst="rect">
            <a:avLst/>
          </a:prstGeom>
          <a:noFill/>
          <a:ln/>
        </p:spPr>
        <p:txBody>
          <a:bodyPr wrap="square" lIns="0" tIns="0" rIns="0" bIns="0" rtlCol="0" anchor="ctr"/>
          <a:lstStyle/>
          <a:p>
            <a:pPr algn="r" indent="0" marL="0">
              <a:buNone/>
            </a:pPr>
            <a:r>
              <a:rPr lang="en-US" sz="1100" b="1" dirty="0">
                <a:solidFill>
                  <a:srgbClr val="0B2239"/>
                </a:solidFill>
              </a:rPr>
              <a:t>Gradient boosting</a:t>
            </a:r>
            <a:endParaRPr lang="en-US" sz="1100" dirty="0"/>
          </a:p>
        </p:txBody>
      </p:sp>
      <p:sp>
        <p:nvSpPr>
          <p:cNvPr id="6" name="bar-0"/>
          <p:cNvSpPr/>
          <p:nvPr/>
        </p:nvSpPr>
        <p:spPr>
          <a:xfrm>
            <a:off x="2148840" y="1655064"/>
            <a:ext cx="995782" cy="164592"/>
          </a:xfrm>
          <a:prstGeom prst="rect">
            <a:avLst/>
          </a:prstGeom>
          <a:solidFill>
            <a:srgbClr val="2A78D6"/>
          </a:solidFill>
          <a:ln w="12700">
            <a:solidFill>
              <a:srgbClr val="2A78D6"/>
            </a:solidFill>
            <a:prstDash val="solid"/>
          </a:ln>
        </p:spPr>
      </p:sp>
      <p:sp>
        <p:nvSpPr>
          <p:cNvPr id="7" name="Text 5"/>
          <p:cNvSpPr txBox="1"/>
          <p:nvPr/>
        </p:nvSpPr>
        <p:spPr>
          <a:xfrm>
            <a:off x="3217774" y="1627632"/>
            <a:ext cx="548640" cy="219456"/>
          </a:xfrm>
          <a:prstGeom prst="rect">
            <a:avLst/>
          </a:prstGeom>
          <a:noFill/>
          <a:ln/>
        </p:spPr>
        <p:txBody>
          <a:bodyPr wrap="square" lIns="0" tIns="0" rIns="0" bIns="0" rtlCol="0" anchor="ctr"/>
          <a:lstStyle/>
          <a:p>
            <a:pPr indent="0" marL="0">
              <a:buNone/>
            </a:pPr>
            <a:r>
              <a:rPr lang="en-US" sz="1100" b="1" dirty="0">
                <a:solidFill>
                  <a:srgbClr val="0B2239"/>
                </a:solidFill>
              </a:rPr>
              <a:t>1.032</a:t>
            </a:r>
            <a:endParaRPr lang="en-US" sz="1100" dirty="0"/>
          </a:p>
        </p:txBody>
      </p:sp>
      <p:sp>
        <p:nvSpPr>
          <p:cNvPr id="8" name="Text 6"/>
          <p:cNvSpPr txBox="1"/>
          <p:nvPr/>
        </p:nvSpPr>
        <p:spPr>
          <a:xfrm>
            <a:off x="548640" y="1920240"/>
            <a:ext cx="1508760" cy="219456"/>
          </a:xfrm>
          <a:prstGeom prst="rect">
            <a:avLst/>
          </a:prstGeom>
          <a:noFill/>
          <a:ln/>
        </p:spPr>
        <p:txBody>
          <a:bodyPr wrap="square" lIns="0" tIns="0" rIns="0" bIns="0" rtlCol="0" anchor="ctr"/>
          <a:lstStyle/>
          <a:p>
            <a:pPr algn="r" indent="0" marL="0">
              <a:buNone/>
            </a:pPr>
            <a:r>
              <a:rPr lang="en-US" sz="1100" b="1" dirty="0">
                <a:solidFill>
                  <a:srgbClr val="0B2239"/>
                </a:solidFill>
              </a:rPr>
              <a:t>Ridge</a:t>
            </a:r>
            <a:endParaRPr lang="en-US" sz="1100" dirty="0"/>
          </a:p>
        </p:txBody>
      </p:sp>
      <p:sp>
        <p:nvSpPr>
          <p:cNvPr id="9" name="bar-1"/>
          <p:cNvSpPr/>
          <p:nvPr/>
        </p:nvSpPr>
        <p:spPr>
          <a:xfrm>
            <a:off x="2148840" y="1947672"/>
            <a:ext cx="1003325" cy="164592"/>
          </a:xfrm>
          <a:prstGeom prst="rect">
            <a:avLst/>
          </a:prstGeom>
          <a:solidFill>
            <a:srgbClr val="2A78D6"/>
          </a:solidFill>
          <a:ln w="12700">
            <a:solidFill>
              <a:srgbClr val="2A78D6"/>
            </a:solidFill>
            <a:prstDash val="solid"/>
          </a:ln>
        </p:spPr>
      </p:sp>
      <p:sp>
        <p:nvSpPr>
          <p:cNvPr id="10" name="Text 8"/>
          <p:cNvSpPr txBox="1"/>
          <p:nvPr/>
        </p:nvSpPr>
        <p:spPr>
          <a:xfrm>
            <a:off x="3225317" y="1920240"/>
            <a:ext cx="548640" cy="219456"/>
          </a:xfrm>
          <a:prstGeom prst="rect">
            <a:avLst/>
          </a:prstGeom>
          <a:noFill/>
          <a:ln/>
        </p:spPr>
        <p:txBody>
          <a:bodyPr wrap="square" lIns="0" tIns="0" rIns="0" bIns="0" rtlCol="0" anchor="ctr"/>
          <a:lstStyle/>
          <a:p>
            <a:pPr indent="0" marL="0">
              <a:buNone/>
            </a:pPr>
            <a:r>
              <a:rPr lang="en-US" sz="1100" b="1" dirty="0">
                <a:solidFill>
                  <a:srgbClr val="0B2239"/>
                </a:solidFill>
              </a:rPr>
              <a:t>1.033</a:t>
            </a:r>
            <a:endParaRPr lang="en-US" sz="1100" dirty="0"/>
          </a:p>
        </p:txBody>
      </p:sp>
      <p:sp>
        <p:nvSpPr>
          <p:cNvPr id="11" name="Text 9"/>
          <p:cNvSpPr txBox="1"/>
          <p:nvPr/>
        </p:nvSpPr>
        <p:spPr>
          <a:xfrm>
            <a:off x="548640" y="2212848"/>
            <a:ext cx="1508760" cy="219456"/>
          </a:xfrm>
          <a:prstGeom prst="rect">
            <a:avLst/>
          </a:prstGeom>
          <a:noFill/>
          <a:ln/>
        </p:spPr>
        <p:txBody>
          <a:bodyPr wrap="square" lIns="0" tIns="0" rIns="0" bIns="0" rtlCol="0" anchor="ctr"/>
          <a:lstStyle/>
          <a:p>
            <a:pPr algn="r" indent="0" marL="0">
              <a:buNone/>
            </a:pPr>
            <a:r>
              <a:rPr lang="en-US" sz="1100" b="1" dirty="0">
                <a:solidFill>
                  <a:srgbClr val="0B2239"/>
                </a:solidFill>
              </a:rPr>
              <a:t>Linear regression</a:t>
            </a:r>
            <a:endParaRPr lang="en-US" sz="1100" dirty="0"/>
          </a:p>
        </p:txBody>
      </p:sp>
      <p:sp>
        <p:nvSpPr>
          <p:cNvPr id="12" name="bar-2"/>
          <p:cNvSpPr/>
          <p:nvPr/>
        </p:nvSpPr>
        <p:spPr>
          <a:xfrm>
            <a:off x="2148840" y="2240280"/>
            <a:ext cx="1010869" cy="164592"/>
          </a:xfrm>
          <a:prstGeom prst="rect">
            <a:avLst/>
          </a:prstGeom>
          <a:solidFill>
            <a:srgbClr val="2A78D6"/>
          </a:solidFill>
          <a:ln w="12700">
            <a:solidFill>
              <a:srgbClr val="2A78D6"/>
            </a:solidFill>
            <a:prstDash val="solid"/>
          </a:ln>
        </p:spPr>
      </p:sp>
      <p:sp>
        <p:nvSpPr>
          <p:cNvPr id="13" name="Text 11"/>
          <p:cNvSpPr txBox="1"/>
          <p:nvPr/>
        </p:nvSpPr>
        <p:spPr>
          <a:xfrm>
            <a:off x="3232861" y="2212848"/>
            <a:ext cx="548640" cy="219456"/>
          </a:xfrm>
          <a:prstGeom prst="rect">
            <a:avLst/>
          </a:prstGeom>
          <a:noFill/>
          <a:ln/>
        </p:spPr>
        <p:txBody>
          <a:bodyPr wrap="square" lIns="0" tIns="0" rIns="0" bIns="0" rtlCol="0" anchor="ctr"/>
          <a:lstStyle/>
          <a:p>
            <a:pPr indent="0" marL="0">
              <a:buNone/>
            </a:pPr>
            <a:r>
              <a:rPr lang="en-US" sz="1100" b="1" dirty="0">
                <a:solidFill>
                  <a:srgbClr val="0B2239"/>
                </a:solidFill>
              </a:rPr>
              <a:t>1.034</a:t>
            </a:r>
            <a:endParaRPr lang="en-US" sz="1100" dirty="0"/>
          </a:p>
        </p:txBody>
      </p:sp>
      <p:sp>
        <p:nvSpPr>
          <p:cNvPr id="14" name="Text 12"/>
          <p:cNvSpPr txBox="1"/>
          <p:nvPr/>
        </p:nvSpPr>
        <p:spPr>
          <a:xfrm>
            <a:off x="548640" y="2505456"/>
            <a:ext cx="1508760" cy="219456"/>
          </a:xfrm>
          <a:prstGeom prst="rect">
            <a:avLst/>
          </a:prstGeom>
          <a:noFill/>
          <a:ln/>
        </p:spPr>
        <p:txBody>
          <a:bodyPr wrap="square" lIns="0" tIns="0" rIns="0" bIns="0" rtlCol="0" anchor="ctr"/>
          <a:lstStyle/>
          <a:p>
            <a:pPr algn="r" indent="0" marL="0">
              <a:buNone/>
            </a:pPr>
            <a:r>
              <a:rPr lang="en-US" sz="1100" dirty="0">
                <a:solidFill>
                  <a:srgbClr val="667788"/>
                </a:solidFill>
              </a:rPr>
              <a:t>Extra trees</a:t>
            </a:r>
            <a:endParaRPr lang="en-US" sz="1100" dirty="0"/>
          </a:p>
        </p:txBody>
      </p:sp>
      <p:sp>
        <p:nvSpPr>
          <p:cNvPr id="15" name="bar-3"/>
          <p:cNvSpPr/>
          <p:nvPr/>
        </p:nvSpPr>
        <p:spPr>
          <a:xfrm>
            <a:off x="2148840" y="2532888"/>
            <a:ext cx="1116482" cy="164592"/>
          </a:xfrm>
          <a:prstGeom prst="rect">
            <a:avLst/>
          </a:prstGeom>
          <a:solidFill>
            <a:srgbClr val="A9C8EE"/>
          </a:solidFill>
          <a:ln w="12700">
            <a:solidFill>
              <a:srgbClr val="A9C8EE"/>
            </a:solidFill>
            <a:prstDash val="solid"/>
          </a:ln>
        </p:spPr>
      </p:sp>
      <p:sp>
        <p:nvSpPr>
          <p:cNvPr id="16" name="Text 14"/>
          <p:cNvSpPr txBox="1"/>
          <p:nvPr/>
        </p:nvSpPr>
        <p:spPr>
          <a:xfrm>
            <a:off x="3338474" y="2505456"/>
            <a:ext cx="548640" cy="219456"/>
          </a:xfrm>
          <a:prstGeom prst="rect">
            <a:avLst/>
          </a:prstGeom>
          <a:noFill/>
          <a:ln/>
        </p:spPr>
        <p:txBody>
          <a:bodyPr wrap="square" lIns="0" tIns="0" rIns="0" bIns="0" rtlCol="0" anchor="ctr"/>
          <a:lstStyle/>
          <a:p>
            <a:pPr indent="0" marL="0">
              <a:buNone/>
            </a:pPr>
            <a:r>
              <a:rPr lang="en-US" sz="1100" dirty="0">
                <a:solidFill>
                  <a:srgbClr val="667788"/>
                </a:solidFill>
              </a:rPr>
              <a:t>1.048</a:t>
            </a:r>
            <a:endParaRPr lang="en-US" sz="1100" dirty="0"/>
          </a:p>
        </p:txBody>
      </p:sp>
      <p:sp>
        <p:nvSpPr>
          <p:cNvPr id="17" name="Text 15"/>
          <p:cNvSpPr txBox="1"/>
          <p:nvPr/>
        </p:nvSpPr>
        <p:spPr>
          <a:xfrm>
            <a:off x="548640" y="2798064"/>
            <a:ext cx="1508760" cy="219456"/>
          </a:xfrm>
          <a:prstGeom prst="rect">
            <a:avLst/>
          </a:prstGeom>
          <a:noFill/>
          <a:ln/>
        </p:spPr>
        <p:txBody>
          <a:bodyPr wrap="square" lIns="0" tIns="0" rIns="0" bIns="0" rtlCol="0" anchor="ctr"/>
          <a:lstStyle/>
          <a:p>
            <a:pPr algn="r" indent="0" marL="0">
              <a:buNone/>
            </a:pPr>
            <a:r>
              <a:rPr lang="en-US" sz="1100" dirty="0">
                <a:solidFill>
                  <a:srgbClr val="667788"/>
                </a:solidFill>
              </a:rPr>
              <a:t>Lasso</a:t>
            </a:r>
            <a:endParaRPr lang="en-US" sz="1100" dirty="0"/>
          </a:p>
        </p:txBody>
      </p:sp>
      <p:sp>
        <p:nvSpPr>
          <p:cNvPr id="18" name="bar-4"/>
          <p:cNvSpPr/>
          <p:nvPr/>
        </p:nvSpPr>
        <p:spPr>
          <a:xfrm>
            <a:off x="2148840" y="2825496"/>
            <a:ext cx="1124026" cy="164592"/>
          </a:xfrm>
          <a:prstGeom prst="rect">
            <a:avLst/>
          </a:prstGeom>
          <a:solidFill>
            <a:srgbClr val="A9C8EE"/>
          </a:solidFill>
          <a:ln w="12700">
            <a:solidFill>
              <a:srgbClr val="A9C8EE"/>
            </a:solidFill>
            <a:prstDash val="solid"/>
          </a:ln>
        </p:spPr>
      </p:sp>
      <p:sp>
        <p:nvSpPr>
          <p:cNvPr id="19" name="Text 17"/>
          <p:cNvSpPr txBox="1"/>
          <p:nvPr/>
        </p:nvSpPr>
        <p:spPr>
          <a:xfrm>
            <a:off x="3346018" y="2798064"/>
            <a:ext cx="548640" cy="219456"/>
          </a:xfrm>
          <a:prstGeom prst="rect">
            <a:avLst/>
          </a:prstGeom>
          <a:noFill/>
          <a:ln/>
        </p:spPr>
        <p:txBody>
          <a:bodyPr wrap="square" lIns="0" tIns="0" rIns="0" bIns="0" rtlCol="0" anchor="ctr"/>
          <a:lstStyle/>
          <a:p>
            <a:pPr indent="0" marL="0">
              <a:buNone/>
            </a:pPr>
            <a:r>
              <a:rPr lang="en-US" sz="1100" dirty="0">
                <a:solidFill>
                  <a:srgbClr val="667788"/>
                </a:solidFill>
              </a:rPr>
              <a:t>1.049</a:t>
            </a:r>
            <a:endParaRPr lang="en-US" sz="1100" dirty="0"/>
          </a:p>
        </p:txBody>
      </p:sp>
      <p:sp>
        <p:nvSpPr>
          <p:cNvPr id="20" name="Text 18"/>
          <p:cNvSpPr txBox="1"/>
          <p:nvPr/>
        </p:nvSpPr>
        <p:spPr>
          <a:xfrm>
            <a:off x="548640" y="3090672"/>
            <a:ext cx="1508760" cy="219456"/>
          </a:xfrm>
          <a:prstGeom prst="rect">
            <a:avLst/>
          </a:prstGeom>
          <a:noFill/>
          <a:ln/>
        </p:spPr>
        <p:txBody>
          <a:bodyPr wrap="square" lIns="0" tIns="0" rIns="0" bIns="0" rtlCol="0" anchor="ctr"/>
          <a:lstStyle/>
          <a:p>
            <a:pPr algn="r" indent="0" marL="0">
              <a:buNone/>
            </a:pPr>
            <a:r>
              <a:rPr lang="en-US" sz="1100" dirty="0">
                <a:solidFill>
                  <a:srgbClr val="667788"/>
                </a:solidFill>
              </a:rPr>
              <a:t>Hist. gradient boosting</a:t>
            </a:r>
            <a:endParaRPr lang="en-US" sz="1100" dirty="0"/>
          </a:p>
        </p:txBody>
      </p:sp>
      <p:sp>
        <p:nvSpPr>
          <p:cNvPr id="21" name="bar-5"/>
          <p:cNvSpPr/>
          <p:nvPr/>
        </p:nvSpPr>
        <p:spPr>
          <a:xfrm>
            <a:off x="2148840" y="3118104"/>
            <a:ext cx="1161745" cy="164592"/>
          </a:xfrm>
          <a:prstGeom prst="rect">
            <a:avLst/>
          </a:prstGeom>
          <a:solidFill>
            <a:srgbClr val="A9C8EE"/>
          </a:solidFill>
          <a:ln w="12700">
            <a:solidFill>
              <a:srgbClr val="A9C8EE"/>
            </a:solidFill>
            <a:prstDash val="solid"/>
          </a:ln>
        </p:spPr>
      </p:sp>
      <p:sp>
        <p:nvSpPr>
          <p:cNvPr id="22" name="Text 20"/>
          <p:cNvSpPr txBox="1"/>
          <p:nvPr/>
        </p:nvSpPr>
        <p:spPr>
          <a:xfrm>
            <a:off x="3383737" y="3090672"/>
            <a:ext cx="548640" cy="219456"/>
          </a:xfrm>
          <a:prstGeom prst="rect">
            <a:avLst/>
          </a:prstGeom>
          <a:noFill/>
          <a:ln/>
        </p:spPr>
        <p:txBody>
          <a:bodyPr wrap="square" lIns="0" tIns="0" rIns="0" bIns="0" rtlCol="0" anchor="ctr"/>
          <a:lstStyle/>
          <a:p>
            <a:pPr indent="0" marL="0">
              <a:buNone/>
            </a:pPr>
            <a:r>
              <a:rPr lang="en-US" sz="1100" dirty="0">
                <a:solidFill>
                  <a:srgbClr val="667788"/>
                </a:solidFill>
              </a:rPr>
              <a:t>1.054</a:t>
            </a:r>
            <a:endParaRPr lang="en-US" sz="1100" dirty="0"/>
          </a:p>
        </p:txBody>
      </p:sp>
      <p:sp>
        <p:nvSpPr>
          <p:cNvPr id="23" name="Text 21"/>
          <p:cNvSpPr txBox="1"/>
          <p:nvPr/>
        </p:nvSpPr>
        <p:spPr>
          <a:xfrm>
            <a:off x="548640" y="3383280"/>
            <a:ext cx="1508760" cy="219456"/>
          </a:xfrm>
          <a:prstGeom prst="rect">
            <a:avLst/>
          </a:prstGeom>
          <a:noFill/>
          <a:ln/>
        </p:spPr>
        <p:txBody>
          <a:bodyPr wrap="square" lIns="0" tIns="0" rIns="0" bIns="0" rtlCol="0" anchor="ctr"/>
          <a:lstStyle/>
          <a:p>
            <a:pPr algn="r" indent="0" marL="0">
              <a:buNone/>
            </a:pPr>
            <a:r>
              <a:rPr lang="en-US" sz="1100" dirty="0">
                <a:solidFill>
                  <a:srgbClr val="667788"/>
                </a:solidFill>
              </a:rPr>
              <a:t>Random forest</a:t>
            </a:r>
            <a:endParaRPr lang="en-US" sz="1100" dirty="0"/>
          </a:p>
        </p:txBody>
      </p:sp>
      <p:sp>
        <p:nvSpPr>
          <p:cNvPr id="24" name="bar-6"/>
          <p:cNvSpPr/>
          <p:nvPr/>
        </p:nvSpPr>
        <p:spPr>
          <a:xfrm>
            <a:off x="2148840" y="3410712"/>
            <a:ext cx="1191920" cy="164592"/>
          </a:xfrm>
          <a:prstGeom prst="rect">
            <a:avLst/>
          </a:prstGeom>
          <a:solidFill>
            <a:srgbClr val="A9C8EE"/>
          </a:solidFill>
          <a:ln w="12700">
            <a:solidFill>
              <a:srgbClr val="A9C8EE"/>
            </a:solidFill>
            <a:prstDash val="solid"/>
          </a:ln>
        </p:spPr>
      </p:sp>
      <p:sp>
        <p:nvSpPr>
          <p:cNvPr id="25" name="Text 23"/>
          <p:cNvSpPr txBox="1"/>
          <p:nvPr/>
        </p:nvSpPr>
        <p:spPr>
          <a:xfrm>
            <a:off x="3413912" y="3383280"/>
            <a:ext cx="548640" cy="219456"/>
          </a:xfrm>
          <a:prstGeom prst="rect">
            <a:avLst/>
          </a:prstGeom>
          <a:noFill/>
          <a:ln/>
        </p:spPr>
        <p:txBody>
          <a:bodyPr wrap="square" lIns="0" tIns="0" rIns="0" bIns="0" rtlCol="0" anchor="ctr"/>
          <a:lstStyle/>
          <a:p>
            <a:pPr indent="0" marL="0">
              <a:buNone/>
            </a:pPr>
            <a:r>
              <a:rPr lang="en-US" sz="1100" dirty="0">
                <a:solidFill>
                  <a:srgbClr val="667788"/>
                </a:solidFill>
              </a:rPr>
              <a:t>1.058</a:t>
            </a:r>
            <a:endParaRPr lang="en-US" sz="1100" dirty="0"/>
          </a:p>
        </p:txBody>
      </p:sp>
      <p:sp>
        <p:nvSpPr>
          <p:cNvPr id="26" name="Text 24"/>
          <p:cNvSpPr txBox="1"/>
          <p:nvPr/>
        </p:nvSpPr>
        <p:spPr>
          <a:xfrm>
            <a:off x="548640" y="3675888"/>
            <a:ext cx="1508760" cy="219456"/>
          </a:xfrm>
          <a:prstGeom prst="rect">
            <a:avLst/>
          </a:prstGeom>
          <a:noFill/>
          <a:ln/>
        </p:spPr>
        <p:txBody>
          <a:bodyPr wrap="square" lIns="0" tIns="0" rIns="0" bIns="0" rtlCol="0" anchor="ctr"/>
          <a:lstStyle/>
          <a:p>
            <a:pPr algn="r" indent="0" marL="0">
              <a:buNone/>
            </a:pPr>
            <a:r>
              <a:rPr lang="en-US" sz="1100" dirty="0">
                <a:solidFill>
                  <a:srgbClr val="667788"/>
                </a:solidFill>
              </a:rPr>
              <a:t>SVR</a:t>
            </a:r>
            <a:endParaRPr lang="en-US" sz="1100" dirty="0"/>
          </a:p>
        </p:txBody>
      </p:sp>
      <p:sp>
        <p:nvSpPr>
          <p:cNvPr id="27" name="bar-7"/>
          <p:cNvSpPr/>
          <p:nvPr/>
        </p:nvSpPr>
        <p:spPr>
          <a:xfrm>
            <a:off x="2148840" y="3703320"/>
            <a:ext cx="1802968" cy="164592"/>
          </a:xfrm>
          <a:prstGeom prst="rect">
            <a:avLst/>
          </a:prstGeom>
          <a:solidFill>
            <a:srgbClr val="A9C8EE"/>
          </a:solidFill>
          <a:ln w="12700">
            <a:solidFill>
              <a:srgbClr val="A9C8EE"/>
            </a:solidFill>
            <a:prstDash val="solid"/>
          </a:ln>
        </p:spPr>
      </p:sp>
      <p:sp>
        <p:nvSpPr>
          <p:cNvPr id="28" name="Text 26"/>
          <p:cNvSpPr txBox="1"/>
          <p:nvPr/>
        </p:nvSpPr>
        <p:spPr>
          <a:xfrm>
            <a:off x="4024960" y="3675888"/>
            <a:ext cx="548640" cy="219456"/>
          </a:xfrm>
          <a:prstGeom prst="rect">
            <a:avLst/>
          </a:prstGeom>
          <a:noFill/>
          <a:ln/>
        </p:spPr>
        <p:txBody>
          <a:bodyPr wrap="square" lIns="0" tIns="0" rIns="0" bIns="0" rtlCol="0" anchor="ctr"/>
          <a:lstStyle/>
          <a:p>
            <a:pPr indent="0" marL="0">
              <a:buNone/>
            </a:pPr>
            <a:r>
              <a:rPr lang="en-US" sz="1100" dirty="0">
                <a:solidFill>
                  <a:srgbClr val="667788"/>
                </a:solidFill>
              </a:rPr>
              <a:t>1.139</a:t>
            </a:r>
            <a:endParaRPr lang="en-US" sz="1100" dirty="0"/>
          </a:p>
        </p:txBody>
      </p:sp>
      <p:sp>
        <p:nvSpPr>
          <p:cNvPr id="29" name="Text 27"/>
          <p:cNvSpPr txBox="1"/>
          <p:nvPr/>
        </p:nvSpPr>
        <p:spPr>
          <a:xfrm>
            <a:off x="548640" y="3968496"/>
            <a:ext cx="1508760" cy="219456"/>
          </a:xfrm>
          <a:prstGeom prst="rect">
            <a:avLst/>
          </a:prstGeom>
          <a:noFill/>
          <a:ln/>
        </p:spPr>
        <p:txBody>
          <a:bodyPr wrap="square" lIns="0" tIns="0" rIns="0" bIns="0" rtlCol="0" anchor="ctr"/>
          <a:lstStyle/>
          <a:p>
            <a:pPr algn="r" indent="0" marL="0">
              <a:buNone/>
            </a:pPr>
            <a:r>
              <a:rPr lang="en-US" sz="1100" dirty="0">
                <a:solidFill>
                  <a:srgbClr val="667788"/>
                </a:solidFill>
              </a:rPr>
              <a:t>KNN</a:t>
            </a:r>
            <a:endParaRPr lang="en-US" sz="1100" dirty="0"/>
          </a:p>
        </p:txBody>
      </p:sp>
      <p:sp>
        <p:nvSpPr>
          <p:cNvPr id="30" name="bar-8"/>
          <p:cNvSpPr/>
          <p:nvPr/>
        </p:nvSpPr>
        <p:spPr>
          <a:xfrm>
            <a:off x="2148840" y="3995928"/>
            <a:ext cx="2391385" cy="164592"/>
          </a:xfrm>
          <a:prstGeom prst="rect">
            <a:avLst/>
          </a:prstGeom>
          <a:solidFill>
            <a:srgbClr val="A9C8EE"/>
          </a:solidFill>
          <a:ln w="12700">
            <a:solidFill>
              <a:srgbClr val="A9C8EE"/>
            </a:solidFill>
            <a:prstDash val="solid"/>
          </a:ln>
        </p:spPr>
      </p:sp>
      <p:sp>
        <p:nvSpPr>
          <p:cNvPr id="31" name="Text 29"/>
          <p:cNvSpPr txBox="1"/>
          <p:nvPr/>
        </p:nvSpPr>
        <p:spPr>
          <a:xfrm>
            <a:off x="4613377" y="3968496"/>
            <a:ext cx="548640" cy="219456"/>
          </a:xfrm>
          <a:prstGeom prst="rect">
            <a:avLst/>
          </a:prstGeom>
          <a:noFill/>
          <a:ln/>
        </p:spPr>
        <p:txBody>
          <a:bodyPr wrap="square" lIns="0" tIns="0" rIns="0" bIns="0" rtlCol="0" anchor="ctr"/>
          <a:lstStyle/>
          <a:p>
            <a:pPr indent="0" marL="0">
              <a:buNone/>
            </a:pPr>
            <a:r>
              <a:rPr lang="en-US" sz="1100" dirty="0">
                <a:solidFill>
                  <a:srgbClr val="667788"/>
                </a:solidFill>
              </a:rPr>
              <a:t>1.217</a:t>
            </a:r>
            <a:endParaRPr lang="en-US" sz="1100" dirty="0"/>
          </a:p>
        </p:txBody>
      </p:sp>
      <p:sp>
        <p:nvSpPr>
          <p:cNvPr id="32" name="Text 30"/>
          <p:cNvSpPr txBox="1"/>
          <p:nvPr/>
        </p:nvSpPr>
        <p:spPr>
          <a:xfrm>
            <a:off x="548640" y="4261104"/>
            <a:ext cx="1508760" cy="219456"/>
          </a:xfrm>
          <a:prstGeom prst="rect">
            <a:avLst/>
          </a:prstGeom>
          <a:noFill/>
          <a:ln/>
        </p:spPr>
        <p:txBody>
          <a:bodyPr wrap="square" lIns="0" tIns="0" rIns="0" bIns="0" rtlCol="0" anchor="ctr"/>
          <a:lstStyle/>
          <a:p>
            <a:pPr algn="r" indent="0" marL="0">
              <a:buNone/>
            </a:pPr>
            <a:r>
              <a:rPr lang="en-US" sz="1100" dirty="0">
                <a:solidFill>
                  <a:srgbClr val="667788"/>
                </a:solidFill>
              </a:rPr>
              <a:t>Persistence</a:t>
            </a:r>
            <a:endParaRPr lang="en-US" sz="1100" dirty="0"/>
          </a:p>
        </p:txBody>
      </p:sp>
      <p:sp>
        <p:nvSpPr>
          <p:cNvPr id="33" name="bar-9"/>
          <p:cNvSpPr/>
          <p:nvPr/>
        </p:nvSpPr>
        <p:spPr>
          <a:xfrm>
            <a:off x="2148840" y="4288536"/>
            <a:ext cx="2595067" cy="164592"/>
          </a:xfrm>
          <a:prstGeom prst="rect">
            <a:avLst/>
          </a:prstGeom>
          <a:solidFill>
            <a:srgbClr val="AAB5C0"/>
          </a:solidFill>
          <a:ln w="12700">
            <a:solidFill>
              <a:srgbClr val="AAB5C0"/>
            </a:solidFill>
            <a:prstDash val="solid"/>
          </a:ln>
        </p:spPr>
      </p:sp>
      <p:sp>
        <p:nvSpPr>
          <p:cNvPr id="34" name="Text 32"/>
          <p:cNvSpPr txBox="1"/>
          <p:nvPr/>
        </p:nvSpPr>
        <p:spPr>
          <a:xfrm>
            <a:off x="4817059" y="4261104"/>
            <a:ext cx="548640" cy="219456"/>
          </a:xfrm>
          <a:prstGeom prst="rect">
            <a:avLst/>
          </a:prstGeom>
          <a:noFill/>
          <a:ln/>
        </p:spPr>
        <p:txBody>
          <a:bodyPr wrap="square" lIns="0" tIns="0" rIns="0" bIns="0" rtlCol="0" anchor="ctr"/>
          <a:lstStyle/>
          <a:p>
            <a:pPr indent="0" marL="0">
              <a:buNone/>
            </a:pPr>
            <a:r>
              <a:rPr lang="en-US" sz="1100" dirty="0">
                <a:solidFill>
                  <a:srgbClr val="667788"/>
                </a:solidFill>
              </a:rPr>
              <a:t>1.244</a:t>
            </a:r>
            <a:endParaRPr lang="en-US" sz="1100" dirty="0"/>
          </a:p>
        </p:txBody>
      </p:sp>
      <p:sp>
        <p:nvSpPr>
          <p:cNvPr id="35" name="takeaways"/>
          <p:cNvSpPr/>
          <p:nvPr/>
        </p:nvSpPr>
        <p:spPr>
          <a:xfrm>
            <a:off x="5989320" y="1325880"/>
            <a:ext cx="2606040" cy="3200400"/>
          </a:xfrm>
          <a:prstGeom prst="roundRect">
            <a:avLst>
              <a:gd name="adj" fmla="val 2105"/>
            </a:avLst>
          </a:prstGeom>
          <a:solidFill>
            <a:srgbClr val="F4F7FA"/>
          </a:solidFill>
          <a:ln w="12700">
            <a:solidFill>
              <a:srgbClr val="E2E8EE"/>
            </a:solidFill>
            <a:prstDash val="solid"/>
          </a:ln>
        </p:spPr>
      </p:sp>
      <p:sp>
        <p:nvSpPr>
          <p:cNvPr id="36" name="Text 34"/>
          <p:cNvSpPr txBox="1"/>
          <p:nvPr/>
        </p:nvSpPr>
        <p:spPr>
          <a:xfrm>
            <a:off x="6217920" y="1508760"/>
            <a:ext cx="2240280" cy="274320"/>
          </a:xfrm>
          <a:prstGeom prst="rect">
            <a:avLst/>
          </a:prstGeom>
          <a:noFill/>
          <a:ln/>
        </p:spPr>
        <p:txBody>
          <a:bodyPr wrap="square" lIns="0" tIns="0" rIns="0" bIns="0" rtlCol="0" anchor="t"/>
          <a:lstStyle/>
          <a:p>
            <a:pPr indent="0" marL="0">
              <a:buNone/>
            </a:pPr>
            <a:r>
              <a:rPr lang="en-US" sz="1400" b="1" dirty="0">
                <a:solidFill>
                  <a:srgbClr val="0B2239"/>
                </a:solidFill>
              </a:rPr>
              <a:t>Linear ≈ boosting</a:t>
            </a:r>
            <a:endParaRPr lang="en-US" sz="1400" dirty="0"/>
          </a:p>
        </p:txBody>
      </p:sp>
      <p:sp>
        <p:nvSpPr>
          <p:cNvPr id="37" name="Text 35"/>
          <p:cNvSpPr txBox="1"/>
          <p:nvPr/>
        </p:nvSpPr>
        <p:spPr>
          <a:xfrm>
            <a:off x="6217920" y="1801368"/>
            <a:ext cx="2240280" cy="594360"/>
          </a:xfrm>
          <a:prstGeom prst="rect">
            <a:avLst/>
          </a:prstGeom>
          <a:noFill/>
          <a:ln/>
        </p:spPr>
        <p:txBody>
          <a:bodyPr wrap="square" lIns="0" tIns="0" rIns="0" bIns="0" rtlCol="0" anchor="t"/>
          <a:lstStyle/>
          <a:p>
            <a:pPr indent="0" marL="0">
              <a:buNone/>
            </a:pPr>
            <a:r>
              <a:rPr lang="en-US" sz="1200" dirty="0">
                <a:solidFill>
                  <a:srgbClr val="667788"/>
                </a:solidFill>
              </a:rPr>
              <a:t>Ridge trains in milliseconds, gradient boosting in about 6 s.</a:t>
            </a:r>
            <a:endParaRPr lang="en-US" sz="1200" dirty="0"/>
          </a:p>
        </p:txBody>
      </p:sp>
      <p:sp>
        <p:nvSpPr>
          <p:cNvPr id="38" name="Text 36"/>
          <p:cNvSpPr txBox="1"/>
          <p:nvPr/>
        </p:nvSpPr>
        <p:spPr>
          <a:xfrm>
            <a:off x="6217920" y="2496312"/>
            <a:ext cx="2240280" cy="274320"/>
          </a:xfrm>
          <a:prstGeom prst="rect">
            <a:avLst/>
          </a:prstGeom>
          <a:noFill/>
          <a:ln/>
        </p:spPr>
        <p:txBody>
          <a:bodyPr wrap="square" lIns="0" tIns="0" rIns="0" bIns="0" rtlCol="0" anchor="t"/>
          <a:lstStyle/>
          <a:p>
            <a:pPr indent="0" marL="0">
              <a:buNone/>
            </a:pPr>
            <a:r>
              <a:rPr lang="en-US" sz="1400" b="1" dirty="0">
                <a:solidFill>
                  <a:srgbClr val="0B2239"/>
                </a:solidFill>
              </a:rPr>
              <a:t>Tuning: no gain</a:t>
            </a:r>
            <a:endParaRPr lang="en-US" sz="1400" dirty="0"/>
          </a:p>
        </p:txBody>
      </p:sp>
      <p:sp>
        <p:nvSpPr>
          <p:cNvPr id="39" name="Text 37"/>
          <p:cNvSpPr txBox="1"/>
          <p:nvPr/>
        </p:nvSpPr>
        <p:spPr>
          <a:xfrm>
            <a:off x="6217920" y="2788920"/>
            <a:ext cx="2240280" cy="594360"/>
          </a:xfrm>
          <a:prstGeom prst="rect">
            <a:avLst/>
          </a:prstGeom>
          <a:noFill/>
          <a:ln/>
        </p:spPr>
        <p:txBody>
          <a:bodyPr wrap="square" lIns="0" tIns="0" rIns="0" bIns="0" rtlCol="0" anchor="t"/>
          <a:lstStyle/>
          <a:p>
            <a:pPr indent="0" marL="0">
              <a:buNone/>
            </a:pPr>
            <a:r>
              <a:rPr lang="en-US" sz="1200" dirty="0">
                <a:solidFill>
                  <a:srgbClr val="667788"/>
                </a:solidFill>
              </a:rPr>
              <a:t>Grid search moved MAE from 1.032 to 1.035 °C.</a:t>
            </a:r>
            <a:endParaRPr lang="en-US" sz="1200" dirty="0"/>
          </a:p>
        </p:txBody>
      </p:sp>
      <p:sp>
        <p:nvSpPr>
          <p:cNvPr id="40" name="Text 38"/>
          <p:cNvSpPr txBox="1"/>
          <p:nvPr/>
        </p:nvSpPr>
        <p:spPr>
          <a:xfrm>
            <a:off x="6217920" y="3483864"/>
            <a:ext cx="2240280" cy="274320"/>
          </a:xfrm>
          <a:prstGeom prst="rect">
            <a:avLst/>
          </a:prstGeom>
          <a:noFill/>
          <a:ln/>
        </p:spPr>
        <p:txBody>
          <a:bodyPr wrap="square" lIns="0" tIns="0" rIns="0" bIns="0" rtlCol="0" anchor="t"/>
          <a:lstStyle/>
          <a:p>
            <a:pPr indent="0" marL="0">
              <a:buNone/>
            </a:pPr>
            <a:r>
              <a:rPr lang="en-US" sz="1400" b="1" dirty="0">
                <a:solidFill>
                  <a:srgbClr val="0B2239"/>
                </a:solidFill>
              </a:rPr>
              <a:t>Top-3 average wins</a:t>
            </a:r>
            <a:endParaRPr lang="en-US" sz="1400" dirty="0"/>
          </a:p>
        </p:txBody>
      </p:sp>
      <p:sp>
        <p:nvSpPr>
          <p:cNvPr id="41" name="Text 39"/>
          <p:cNvSpPr txBox="1"/>
          <p:nvPr/>
        </p:nvSpPr>
        <p:spPr>
          <a:xfrm>
            <a:off x="6217920" y="3776472"/>
            <a:ext cx="2240280" cy="594360"/>
          </a:xfrm>
          <a:prstGeom prst="rect">
            <a:avLst/>
          </a:prstGeom>
          <a:noFill/>
          <a:ln/>
        </p:spPr>
        <p:txBody>
          <a:bodyPr wrap="square" lIns="0" tIns="0" rIns="0" bIns="0" rtlCol="0" anchor="t"/>
          <a:lstStyle/>
          <a:p>
            <a:pPr indent="0" marL="0">
              <a:buNone/>
            </a:pPr>
            <a:r>
              <a:rPr lang="en-US" sz="1200" dirty="0">
                <a:solidFill>
                  <a:srgbClr val="667788"/>
                </a:solidFill>
              </a:rPr>
              <a:t>Boosting + Ridge + linear regression: 1.011 °C.</a:t>
            </a:r>
            <a:endParaRPr lang="en-US" sz="1200" dirty="0"/>
          </a:p>
        </p:txBody>
      </p:sp>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AB5C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000" b="1" spc="300" kern="0" dirty="0">
                <a:solidFill>
                  <a:srgbClr val="2A78D6"/>
                </a:solidFill>
              </a:rPr>
              <a:t>RESULTS · TEST SET 2024–2025</a:t>
            </a:r>
            <a:endParaRPr lang="en-US" sz="10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600" b="1" dirty="0">
                <a:solidFill>
                  <a:srgbClr val="0B2239"/>
                </a:solidFill>
              </a:rPr>
              <a:t>19% and 11% less error than persistence</a:t>
            </a:r>
            <a:endParaRPr lang="en-US" sz="2600" dirty="0"/>
          </a:p>
        </p:txBody>
      </p:sp>
      <p:sp>
        <p:nvSpPr>
          <p:cNvPr id="4" name="Text 2"/>
          <p:cNvSpPr txBox="1"/>
          <p:nvPr/>
        </p:nvSpPr>
        <p:spPr>
          <a:xfrm>
            <a:off x="548640" y="1280160"/>
            <a:ext cx="1920240" cy="640080"/>
          </a:xfrm>
          <a:prstGeom prst="rect">
            <a:avLst/>
          </a:prstGeom>
          <a:noFill/>
          <a:ln/>
        </p:spPr>
        <p:txBody>
          <a:bodyPr wrap="square" lIns="0" tIns="0" rIns="0" bIns="0" rtlCol="0" anchor="b"/>
          <a:lstStyle/>
          <a:p>
            <a:pPr indent="0" marL="0">
              <a:buNone/>
            </a:pPr>
            <a:r>
              <a:rPr lang="en-US" sz="3800" b="1" dirty="0">
                <a:solidFill>
                  <a:srgbClr val="EB6834"/>
                </a:solidFill>
              </a:rPr>
              <a:t>1.22 °C</a:t>
            </a:r>
            <a:endParaRPr lang="en-US" sz="3800" dirty="0"/>
          </a:p>
        </p:txBody>
      </p:sp>
      <p:sp>
        <p:nvSpPr>
          <p:cNvPr id="5" name="Text 3"/>
          <p:cNvSpPr txBox="1"/>
          <p:nvPr/>
        </p:nvSpPr>
        <p:spPr>
          <a:xfrm>
            <a:off x="548640" y="1993392"/>
            <a:ext cx="1920240" cy="548640"/>
          </a:xfrm>
          <a:prstGeom prst="rect">
            <a:avLst/>
          </a:prstGeom>
          <a:noFill/>
          <a:ln/>
        </p:spPr>
        <p:txBody>
          <a:bodyPr wrap="square" lIns="0" tIns="0" rIns="0" bIns="0" rtlCol="0" anchor="t"/>
          <a:lstStyle/>
          <a:p>
            <a:pPr indent="0" marL="0">
              <a:buNone/>
            </a:pPr>
            <a:r>
              <a:rPr lang="en-US" sz="1200" dirty="0">
                <a:solidFill>
                  <a:srgbClr val="667788"/>
                </a:solidFill>
              </a:rPr>
              <a:t>Tmax MAE, vs 1.51 °C for persistence</a:t>
            </a:r>
            <a:endParaRPr lang="en-US" sz="1200" dirty="0"/>
          </a:p>
        </p:txBody>
      </p:sp>
      <p:sp>
        <p:nvSpPr>
          <p:cNvPr id="6" name="Text 4"/>
          <p:cNvSpPr txBox="1"/>
          <p:nvPr/>
        </p:nvSpPr>
        <p:spPr>
          <a:xfrm>
            <a:off x="2651760" y="1280160"/>
            <a:ext cx="1920240" cy="640080"/>
          </a:xfrm>
          <a:prstGeom prst="rect">
            <a:avLst/>
          </a:prstGeom>
          <a:noFill/>
          <a:ln/>
        </p:spPr>
        <p:txBody>
          <a:bodyPr wrap="square" lIns="0" tIns="0" rIns="0" bIns="0" rtlCol="0" anchor="b"/>
          <a:lstStyle/>
          <a:p>
            <a:pPr indent="0" marL="0">
              <a:buNone/>
            </a:pPr>
            <a:r>
              <a:rPr lang="en-US" sz="3800" b="1" dirty="0">
                <a:solidFill>
                  <a:srgbClr val="2A78D6"/>
                </a:solidFill>
              </a:rPr>
              <a:t>0.99 °C</a:t>
            </a:r>
            <a:endParaRPr lang="en-US" sz="3800" dirty="0"/>
          </a:p>
        </p:txBody>
      </p:sp>
      <p:sp>
        <p:nvSpPr>
          <p:cNvPr id="7" name="Text 5"/>
          <p:cNvSpPr txBox="1"/>
          <p:nvPr/>
        </p:nvSpPr>
        <p:spPr>
          <a:xfrm>
            <a:off x="2651760" y="1993392"/>
            <a:ext cx="1920240" cy="548640"/>
          </a:xfrm>
          <a:prstGeom prst="rect">
            <a:avLst/>
          </a:prstGeom>
          <a:noFill/>
          <a:ln/>
        </p:spPr>
        <p:txBody>
          <a:bodyPr wrap="square" lIns="0" tIns="0" rIns="0" bIns="0" rtlCol="0" anchor="t"/>
          <a:lstStyle/>
          <a:p>
            <a:pPr indent="0" marL="0">
              <a:buNone/>
            </a:pPr>
            <a:r>
              <a:rPr lang="en-US" sz="1200" dirty="0">
                <a:solidFill>
                  <a:srgbClr val="667788"/>
                </a:solidFill>
              </a:rPr>
              <a:t>Tmin MAE, vs 1.11 °C for persistence</a:t>
            </a:r>
            <a:endParaRPr lang="en-US" sz="1200" dirty="0"/>
          </a:p>
        </p:txBody>
      </p:sp>
      <p:sp>
        <p:nvSpPr>
          <p:cNvPr id="8" name="sig-rule"/>
          <p:cNvSpPr/>
          <p:nvPr/>
        </p:nvSpPr>
        <p:spPr>
          <a:xfrm>
            <a:off x="548640" y="2743200"/>
            <a:ext cx="4023360" cy="0"/>
          </a:xfrm>
          <a:prstGeom prst="line">
            <a:avLst/>
          </a:prstGeom>
          <a:noFill/>
          <a:ln w="12700">
            <a:solidFill>
              <a:srgbClr val="E2E8EE"/>
            </a:solidFill>
            <a:prstDash val="solid"/>
          </a:ln>
        </p:spPr>
      </p:sp>
      <p:sp>
        <p:nvSpPr>
          <p:cNvPr id="9" name="Text 7"/>
          <p:cNvSpPr txBox="1"/>
          <p:nvPr/>
        </p:nvSpPr>
        <p:spPr>
          <a:xfrm>
            <a:off x="548640" y="2926080"/>
            <a:ext cx="4023360" cy="274320"/>
          </a:xfrm>
          <a:prstGeom prst="rect">
            <a:avLst/>
          </a:prstGeom>
          <a:noFill/>
          <a:ln/>
        </p:spPr>
        <p:txBody>
          <a:bodyPr wrap="square" lIns="0" tIns="0" rIns="0" bIns="0" rtlCol="0" anchor="t"/>
          <a:lstStyle/>
          <a:p>
            <a:pPr indent="0" marL="0">
              <a:buNone/>
            </a:pPr>
            <a:r>
              <a:rPr lang="en-US" sz="1400" b="1" dirty="0">
                <a:solidFill>
                  <a:srgbClr val="0B2239"/>
                </a:solidFill>
              </a:rPr>
              <a:t>Both gains are statistically significant</a:t>
            </a:r>
            <a:endParaRPr lang="en-US" sz="1400" dirty="0"/>
          </a:p>
        </p:txBody>
      </p:sp>
      <p:sp>
        <p:nvSpPr>
          <p:cNvPr id="10" name="Text 8"/>
          <p:cNvSpPr txBox="1"/>
          <p:nvPr/>
        </p:nvSpPr>
        <p:spPr>
          <a:xfrm>
            <a:off x="548640" y="3246120"/>
            <a:ext cx="3931920" cy="1188720"/>
          </a:xfrm>
          <a:prstGeom prst="rect">
            <a:avLst/>
          </a:prstGeom>
          <a:noFill/>
          <a:ln/>
        </p:spPr>
        <p:txBody>
          <a:bodyPr wrap="square" lIns="0" tIns="0" rIns="0" bIns="0" rtlCol="0" anchor="t"/>
          <a:lstStyle/>
          <a:p>
            <a:pPr indent="0" marL="0">
              <a:buNone/>
            </a:pPr>
            <a:r>
              <a:rPr lang="en-US" sz="1250" dirty="0">
                <a:solidFill>
                  <a:srgbClr val="667788"/>
                </a:solidFill>
              </a:rPr>
              <a:t>95% CI of the MAE reduction: [0.21, 0.36] °C for Tmax and [0.07, 0.17] °C for Tmin. The model still smooths extremes, so the largest misses fall on the sharpest changes.</a:t>
            </a:r>
            <a:endParaRPr lang="en-US" sz="1250" dirty="0"/>
          </a:p>
        </p:txBody>
      </p:sp>
      <p:sp>
        <p:nvSpPr>
          <p:cNvPr id="11" name="Text 9"/>
          <p:cNvSpPr txBox="1"/>
          <p:nvPr/>
        </p:nvSpPr>
        <p:spPr>
          <a:xfrm>
            <a:off x="5120640" y="1280160"/>
            <a:ext cx="3474720" cy="228600"/>
          </a:xfrm>
          <a:prstGeom prst="rect">
            <a:avLst/>
          </a:prstGeom>
          <a:noFill/>
          <a:ln/>
        </p:spPr>
        <p:txBody>
          <a:bodyPr wrap="square" lIns="0" tIns="0" rIns="0" bIns="0" rtlCol="0" anchor="t"/>
          <a:lstStyle/>
          <a:p>
            <a:pPr indent="0" marL="0">
              <a:buNone/>
            </a:pPr>
            <a:r>
              <a:rPr lang="en-US" sz="1100" dirty="0">
                <a:solidFill>
                  <a:srgbClr val="667788"/>
                </a:solidFill>
              </a:rPr>
              <a:t>Tmax test MAE by season (°C)</a:t>
            </a:r>
            <a:endParaRPr lang="en-US" sz="1100" dirty="0"/>
          </a:p>
        </p:txBody>
      </p:sp>
      <p:sp>
        <p:nvSpPr>
          <p:cNvPr id="12" name="col-0-0"/>
          <p:cNvSpPr/>
          <p:nvPr/>
        </p:nvSpPr>
        <p:spPr>
          <a:xfrm>
            <a:off x="5303520" y="1977390"/>
            <a:ext cx="457200" cy="2183130"/>
          </a:xfrm>
          <a:prstGeom prst="rect">
            <a:avLst/>
          </a:prstGeom>
          <a:solidFill>
            <a:srgbClr val="AAB5C0"/>
          </a:solidFill>
          <a:ln w="12700">
            <a:solidFill>
              <a:srgbClr val="AAB5C0"/>
            </a:solidFill>
            <a:prstDash val="solid"/>
          </a:ln>
        </p:spPr>
      </p:sp>
      <p:sp>
        <p:nvSpPr>
          <p:cNvPr id="13" name="Text 11"/>
          <p:cNvSpPr txBox="1"/>
          <p:nvPr/>
        </p:nvSpPr>
        <p:spPr>
          <a:xfrm>
            <a:off x="5212080" y="1703070"/>
            <a:ext cx="640080" cy="228600"/>
          </a:xfrm>
          <a:prstGeom prst="rect">
            <a:avLst/>
          </a:prstGeom>
          <a:noFill/>
          <a:ln/>
        </p:spPr>
        <p:txBody>
          <a:bodyPr wrap="square" lIns="0" tIns="0" rIns="0" bIns="0" rtlCol="0" anchor="t"/>
          <a:lstStyle/>
          <a:p>
            <a:pPr algn="ctr" indent="0" marL="0">
              <a:buNone/>
            </a:pPr>
            <a:r>
              <a:rPr lang="en-US" sz="1100" dirty="0">
                <a:solidFill>
                  <a:srgbClr val="667788"/>
                </a:solidFill>
              </a:rPr>
              <a:t>1.91</a:t>
            </a:r>
            <a:endParaRPr lang="en-US" sz="1100" dirty="0"/>
          </a:p>
        </p:txBody>
      </p:sp>
      <p:sp>
        <p:nvSpPr>
          <p:cNvPr id="14" name="col-0-1"/>
          <p:cNvSpPr/>
          <p:nvPr/>
        </p:nvSpPr>
        <p:spPr>
          <a:xfrm>
            <a:off x="5870448" y="2526030"/>
            <a:ext cx="457200" cy="1634490"/>
          </a:xfrm>
          <a:prstGeom prst="rect">
            <a:avLst/>
          </a:prstGeom>
          <a:solidFill>
            <a:srgbClr val="EB6834"/>
          </a:solidFill>
          <a:ln w="12700">
            <a:solidFill>
              <a:srgbClr val="EB6834"/>
            </a:solidFill>
            <a:prstDash val="solid"/>
          </a:ln>
        </p:spPr>
      </p:sp>
      <p:sp>
        <p:nvSpPr>
          <p:cNvPr id="15" name="Text 13"/>
          <p:cNvSpPr txBox="1"/>
          <p:nvPr/>
        </p:nvSpPr>
        <p:spPr>
          <a:xfrm>
            <a:off x="5779008" y="2251710"/>
            <a:ext cx="640080" cy="228600"/>
          </a:xfrm>
          <a:prstGeom prst="rect">
            <a:avLst/>
          </a:prstGeom>
          <a:noFill/>
          <a:ln/>
        </p:spPr>
        <p:txBody>
          <a:bodyPr wrap="square" lIns="0" tIns="0" rIns="0" bIns="0" rtlCol="0" anchor="t"/>
          <a:lstStyle/>
          <a:p>
            <a:pPr algn="ctr" indent="0" marL="0">
              <a:buNone/>
            </a:pPr>
            <a:r>
              <a:rPr lang="en-US" sz="1100" b="1" dirty="0">
                <a:solidFill>
                  <a:srgbClr val="0B2239"/>
                </a:solidFill>
              </a:rPr>
              <a:t>1.43</a:t>
            </a:r>
            <a:endParaRPr lang="en-US" sz="1100" dirty="0"/>
          </a:p>
        </p:txBody>
      </p:sp>
      <p:sp>
        <p:nvSpPr>
          <p:cNvPr id="16" name="Text 14"/>
          <p:cNvSpPr txBox="1"/>
          <p:nvPr/>
        </p:nvSpPr>
        <p:spPr>
          <a:xfrm>
            <a:off x="5120640" y="4233672"/>
            <a:ext cx="1417320" cy="228600"/>
          </a:xfrm>
          <a:prstGeom prst="rect">
            <a:avLst/>
          </a:prstGeom>
          <a:noFill/>
          <a:ln/>
        </p:spPr>
        <p:txBody>
          <a:bodyPr wrap="square" lIns="0" tIns="0" rIns="0" bIns="0" rtlCol="0" anchor="t"/>
          <a:lstStyle/>
          <a:p>
            <a:pPr algn="ctr" indent="0" marL="0">
              <a:buNone/>
            </a:pPr>
            <a:r>
              <a:rPr lang="en-US" sz="1100" dirty="0">
                <a:solidFill>
                  <a:srgbClr val="1B2733"/>
                </a:solidFill>
              </a:rPr>
              <a:t>Winter (Nov–Mar)</a:t>
            </a:r>
            <a:endParaRPr lang="en-US" sz="1100" dirty="0"/>
          </a:p>
        </p:txBody>
      </p:sp>
      <p:sp>
        <p:nvSpPr>
          <p:cNvPr id="17" name="col-1-0"/>
          <p:cNvSpPr/>
          <p:nvPr/>
        </p:nvSpPr>
        <p:spPr>
          <a:xfrm>
            <a:off x="7040880" y="2903220"/>
            <a:ext cx="457200" cy="1257300"/>
          </a:xfrm>
          <a:prstGeom prst="rect">
            <a:avLst/>
          </a:prstGeom>
          <a:solidFill>
            <a:srgbClr val="AAB5C0"/>
          </a:solidFill>
          <a:ln w="12700">
            <a:solidFill>
              <a:srgbClr val="AAB5C0"/>
            </a:solidFill>
            <a:prstDash val="solid"/>
          </a:ln>
        </p:spPr>
      </p:sp>
      <p:sp>
        <p:nvSpPr>
          <p:cNvPr id="18" name="Text 16"/>
          <p:cNvSpPr txBox="1"/>
          <p:nvPr/>
        </p:nvSpPr>
        <p:spPr>
          <a:xfrm>
            <a:off x="6949440" y="2628900"/>
            <a:ext cx="640080" cy="228600"/>
          </a:xfrm>
          <a:prstGeom prst="rect">
            <a:avLst/>
          </a:prstGeom>
          <a:noFill/>
          <a:ln/>
        </p:spPr>
        <p:txBody>
          <a:bodyPr wrap="square" lIns="0" tIns="0" rIns="0" bIns="0" rtlCol="0" anchor="t"/>
          <a:lstStyle/>
          <a:p>
            <a:pPr algn="ctr" indent="0" marL="0">
              <a:buNone/>
            </a:pPr>
            <a:r>
              <a:rPr lang="en-US" sz="1100" dirty="0">
                <a:solidFill>
                  <a:srgbClr val="667788"/>
                </a:solidFill>
              </a:rPr>
              <a:t>1.10</a:t>
            </a:r>
            <a:endParaRPr lang="en-US" sz="1100" dirty="0"/>
          </a:p>
        </p:txBody>
      </p:sp>
      <p:sp>
        <p:nvSpPr>
          <p:cNvPr id="19" name="col-1-1"/>
          <p:cNvSpPr/>
          <p:nvPr/>
        </p:nvSpPr>
        <p:spPr>
          <a:xfrm>
            <a:off x="7607808" y="3051810"/>
            <a:ext cx="457200" cy="1108710"/>
          </a:xfrm>
          <a:prstGeom prst="rect">
            <a:avLst/>
          </a:prstGeom>
          <a:solidFill>
            <a:srgbClr val="EB6834"/>
          </a:solidFill>
          <a:ln w="12700">
            <a:solidFill>
              <a:srgbClr val="EB6834"/>
            </a:solidFill>
            <a:prstDash val="solid"/>
          </a:ln>
        </p:spPr>
      </p:sp>
      <p:sp>
        <p:nvSpPr>
          <p:cNvPr id="20" name="Text 18"/>
          <p:cNvSpPr txBox="1"/>
          <p:nvPr/>
        </p:nvSpPr>
        <p:spPr>
          <a:xfrm>
            <a:off x="7516368" y="2777490"/>
            <a:ext cx="640080" cy="228600"/>
          </a:xfrm>
          <a:prstGeom prst="rect">
            <a:avLst/>
          </a:prstGeom>
          <a:noFill/>
          <a:ln/>
        </p:spPr>
        <p:txBody>
          <a:bodyPr wrap="square" lIns="0" tIns="0" rIns="0" bIns="0" rtlCol="0" anchor="t"/>
          <a:lstStyle/>
          <a:p>
            <a:pPr algn="ctr" indent="0" marL="0">
              <a:buNone/>
            </a:pPr>
            <a:r>
              <a:rPr lang="en-US" sz="1100" b="1" dirty="0">
                <a:solidFill>
                  <a:srgbClr val="0B2239"/>
                </a:solidFill>
              </a:rPr>
              <a:t>0.97</a:t>
            </a:r>
            <a:endParaRPr lang="en-US" sz="1100" dirty="0"/>
          </a:p>
        </p:txBody>
      </p:sp>
      <p:sp>
        <p:nvSpPr>
          <p:cNvPr id="21" name="Text 19"/>
          <p:cNvSpPr txBox="1"/>
          <p:nvPr/>
        </p:nvSpPr>
        <p:spPr>
          <a:xfrm>
            <a:off x="6858000" y="4233672"/>
            <a:ext cx="1417320" cy="228600"/>
          </a:xfrm>
          <a:prstGeom prst="rect">
            <a:avLst/>
          </a:prstGeom>
          <a:noFill/>
          <a:ln/>
        </p:spPr>
        <p:txBody>
          <a:bodyPr wrap="square" lIns="0" tIns="0" rIns="0" bIns="0" rtlCol="0" anchor="t"/>
          <a:lstStyle/>
          <a:p>
            <a:pPr algn="ctr" indent="0" marL="0">
              <a:buNone/>
            </a:pPr>
            <a:r>
              <a:rPr lang="en-US" sz="1100" dirty="0">
                <a:solidFill>
                  <a:srgbClr val="1B2733"/>
                </a:solidFill>
              </a:rPr>
              <a:t>Summer (May–Sep)</a:t>
            </a:r>
            <a:endParaRPr lang="en-US" sz="1100" dirty="0"/>
          </a:p>
        </p:txBody>
      </p:sp>
      <p:sp>
        <p:nvSpPr>
          <p:cNvPr id="22" name="baseline"/>
          <p:cNvSpPr/>
          <p:nvPr/>
        </p:nvSpPr>
        <p:spPr>
          <a:xfrm>
            <a:off x="5120640" y="4160520"/>
            <a:ext cx="3474720" cy="0"/>
          </a:xfrm>
          <a:prstGeom prst="line">
            <a:avLst/>
          </a:prstGeom>
          <a:noFill/>
          <a:ln w="12700">
            <a:solidFill>
              <a:srgbClr val="AAB5C0"/>
            </a:solidFill>
            <a:prstDash val="solid"/>
          </a:ln>
        </p:spPr>
      </p:sp>
      <p:sp>
        <p:nvSpPr>
          <p:cNvPr id="23" name="leg-p"/>
          <p:cNvSpPr/>
          <p:nvPr/>
        </p:nvSpPr>
        <p:spPr>
          <a:xfrm>
            <a:off x="5303520" y="4553712"/>
            <a:ext cx="109728" cy="109728"/>
          </a:xfrm>
          <a:prstGeom prst="ellipse">
            <a:avLst/>
          </a:prstGeom>
          <a:solidFill>
            <a:srgbClr val="AAB5C0"/>
          </a:solidFill>
          <a:ln w="12700">
            <a:solidFill>
              <a:srgbClr val="AAB5C0"/>
            </a:solidFill>
            <a:prstDash val="solid"/>
          </a:ln>
        </p:spPr>
      </p:sp>
      <p:sp>
        <p:nvSpPr>
          <p:cNvPr id="24" name="Text 22"/>
          <p:cNvSpPr txBox="1"/>
          <p:nvPr/>
        </p:nvSpPr>
        <p:spPr>
          <a:xfrm>
            <a:off x="5458968" y="4507992"/>
            <a:ext cx="1005840" cy="201168"/>
          </a:xfrm>
          <a:prstGeom prst="rect">
            <a:avLst/>
          </a:prstGeom>
          <a:noFill/>
          <a:ln/>
        </p:spPr>
        <p:txBody>
          <a:bodyPr wrap="square" lIns="0" tIns="0" rIns="0" bIns="0" rtlCol="0" anchor="t"/>
          <a:lstStyle/>
          <a:p>
            <a:pPr indent="0" marL="0">
              <a:buNone/>
            </a:pPr>
            <a:r>
              <a:rPr lang="en-US" sz="1000" dirty="0">
                <a:solidFill>
                  <a:srgbClr val="667788"/>
                </a:solidFill>
              </a:rPr>
              <a:t>Persistence</a:t>
            </a:r>
            <a:endParaRPr lang="en-US" sz="1000" dirty="0"/>
          </a:p>
        </p:txBody>
      </p:sp>
      <p:sp>
        <p:nvSpPr>
          <p:cNvPr id="25" name="leg-m"/>
          <p:cNvSpPr/>
          <p:nvPr/>
        </p:nvSpPr>
        <p:spPr>
          <a:xfrm>
            <a:off x="6492240" y="4553712"/>
            <a:ext cx="109728" cy="109728"/>
          </a:xfrm>
          <a:prstGeom prst="ellipse">
            <a:avLst/>
          </a:prstGeom>
          <a:solidFill>
            <a:srgbClr val="EB6834"/>
          </a:solidFill>
          <a:ln w="12700">
            <a:solidFill>
              <a:srgbClr val="EB6834"/>
            </a:solidFill>
            <a:prstDash val="solid"/>
          </a:ln>
        </p:spPr>
      </p:sp>
      <p:sp>
        <p:nvSpPr>
          <p:cNvPr id="26" name="Text 24"/>
          <p:cNvSpPr txBox="1"/>
          <p:nvPr/>
        </p:nvSpPr>
        <p:spPr>
          <a:xfrm>
            <a:off x="6647688" y="4507992"/>
            <a:ext cx="1005840" cy="201168"/>
          </a:xfrm>
          <a:prstGeom prst="rect">
            <a:avLst/>
          </a:prstGeom>
          <a:noFill/>
          <a:ln/>
        </p:spPr>
        <p:txBody>
          <a:bodyPr wrap="square" lIns="0" tIns="0" rIns="0" bIns="0" rtlCol="0" anchor="t"/>
          <a:lstStyle/>
          <a:p>
            <a:pPr indent="0" marL="0">
              <a:buNone/>
            </a:pPr>
            <a:r>
              <a:rPr lang="en-US" sz="1000" dirty="0">
                <a:solidFill>
                  <a:srgbClr val="667788"/>
                </a:solidFill>
              </a:rPr>
              <a:t>Final model</a:t>
            </a:r>
            <a:endParaRPr lang="en-US" sz="1000" dirty="0"/>
          </a:p>
        </p:txBody>
      </p:sp>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AB5C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000" b="1" spc="300" kern="0" dirty="0">
                <a:solidFill>
                  <a:srgbClr val="2A78D6"/>
                </a:solidFill>
              </a:rPr>
              <a:t>RESULTS · CLASSIFICATION</a:t>
            </a:r>
            <a:endParaRPr lang="en-US" sz="10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600" b="1" dirty="0">
                <a:solidFill>
                  <a:srgbClr val="0B2239"/>
                </a:solidFill>
              </a:rPr>
              <a:t>Close to persistence, but useful rain odds</a:t>
            </a:r>
            <a:endParaRPr lang="en-US" sz="2600" dirty="0"/>
          </a:p>
        </p:txBody>
      </p:sp>
      <p:sp>
        <p:nvSpPr>
          <p:cNvPr id="4" name="Text 2"/>
          <p:cNvSpPr txBox="1"/>
          <p:nvPr/>
        </p:nvSpPr>
        <p:spPr>
          <a:xfrm>
            <a:off x="548640" y="1280160"/>
            <a:ext cx="1737360" cy="640080"/>
          </a:xfrm>
          <a:prstGeom prst="rect">
            <a:avLst/>
          </a:prstGeom>
          <a:noFill/>
          <a:ln/>
        </p:spPr>
        <p:txBody>
          <a:bodyPr wrap="square" lIns="0" tIns="0" rIns="0" bIns="0" rtlCol="0" anchor="b"/>
          <a:lstStyle/>
          <a:p>
            <a:pPr indent="0" marL="0">
              <a:buNone/>
            </a:pPr>
            <a:r>
              <a:rPr lang="en-US" sz="3600" b="1" dirty="0">
                <a:solidFill>
                  <a:srgbClr val="0B2239"/>
                </a:solidFill>
              </a:rPr>
              <a:t>0.501</a:t>
            </a:r>
            <a:endParaRPr lang="en-US" sz="3600" dirty="0"/>
          </a:p>
        </p:txBody>
      </p:sp>
      <p:sp>
        <p:nvSpPr>
          <p:cNvPr id="5" name="Text 3"/>
          <p:cNvSpPr txBox="1"/>
          <p:nvPr/>
        </p:nvSpPr>
        <p:spPr>
          <a:xfrm>
            <a:off x="548640" y="1993392"/>
            <a:ext cx="1737360" cy="548640"/>
          </a:xfrm>
          <a:prstGeom prst="rect">
            <a:avLst/>
          </a:prstGeom>
          <a:noFill/>
          <a:ln/>
        </p:spPr>
        <p:txBody>
          <a:bodyPr wrap="square" lIns="0" tIns="0" rIns="0" bIns="0" rtlCol="0" anchor="t"/>
          <a:lstStyle/>
          <a:p>
            <a:pPr indent="0" marL="0">
              <a:buNone/>
            </a:pPr>
            <a:r>
              <a:rPr lang="en-US" sz="1200" dirty="0">
                <a:solidFill>
                  <a:srgbClr val="667788"/>
                </a:solidFill>
              </a:rPr>
              <a:t>macro F1 on test, vs 0.489 for persistence (not significant)</a:t>
            </a:r>
            <a:endParaRPr lang="en-US" sz="1200" dirty="0"/>
          </a:p>
        </p:txBody>
      </p:sp>
      <p:sp>
        <p:nvSpPr>
          <p:cNvPr id="6" name="Text 4"/>
          <p:cNvSpPr txBox="1"/>
          <p:nvPr/>
        </p:nvSpPr>
        <p:spPr>
          <a:xfrm>
            <a:off x="2423160" y="1280160"/>
            <a:ext cx="1463040" cy="640080"/>
          </a:xfrm>
          <a:prstGeom prst="rect">
            <a:avLst/>
          </a:prstGeom>
          <a:noFill/>
          <a:ln/>
        </p:spPr>
        <p:txBody>
          <a:bodyPr wrap="square" lIns="0" tIns="0" rIns="0" bIns="0" rtlCol="0" anchor="b"/>
          <a:lstStyle/>
          <a:p>
            <a:pPr indent="0" marL="0">
              <a:buNone/>
            </a:pPr>
            <a:r>
              <a:rPr lang="en-US" sz="3600" b="1" dirty="0">
                <a:solidFill>
                  <a:srgbClr val="1BAF7A"/>
                </a:solidFill>
              </a:rPr>
              <a:t>0.88</a:t>
            </a:r>
            <a:endParaRPr lang="en-US" sz="3600" dirty="0"/>
          </a:p>
        </p:txBody>
      </p:sp>
      <p:sp>
        <p:nvSpPr>
          <p:cNvPr id="7" name="Text 5"/>
          <p:cNvSpPr txBox="1"/>
          <p:nvPr/>
        </p:nvSpPr>
        <p:spPr>
          <a:xfrm>
            <a:off x="2423160" y="1993392"/>
            <a:ext cx="1463040" cy="548640"/>
          </a:xfrm>
          <a:prstGeom prst="rect">
            <a:avLst/>
          </a:prstGeom>
          <a:noFill/>
          <a:ln/>
        </p:spPr>
        <p:txBody>
          <a:bodyPr wrap="square" lIns="0" tIns="0" rIns="0" bIns="0" rtlCol="0" anchor="t"/>
          <a:lstStyle/>
          <a:p>
            <a:pPr indent="0" marL="0">
              <a:buNone/>
            </a:pPr>
            <a:r>
              <a:rPr lang="en-US" sz="1200" dirty="0">
                <a:solidFill>
                  <a:srgbClr val="667788"/>
                </a:solidFill>
              </a:rPr>
              <a:t>ROC AUC of the rain probability</a:t>
            </a:r>
            <a:endParaRPr lang="en-US" sz="1200" dirty="0"/>
          </a:p>
        </p:txBody>
      </p:sp>
      <p:sp>
        <p:nvSpPr>
          <p:cNvPr id="8" name="Text 6"/>
          <p:cNvSpPr txBox="1"/>
          <p:nvPr/>
        </p:nvSpPr>
        <p:spPr>
          <a:xfrm>
            <a:off x="548640" y="2743200"/>
            <a:ext cx="3383280" cy="18288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733"/>
                </a:solidFill>
              </a:rPr>
              <a:t>Rain is predicted well (F1 0.81)</a:t>
            </a:r>
            <a:endParaRPr lang="en-US" sz="1250" dirty="0"/>
          </a:p>
          <a:p>
            <a:pPr marL="177800" indent="-177800">
              <a:spcAft>
                <a:spcPts val="600"/>
              </a:spcAft>
              <a:buSzPct val="100000"/>
              <a:buChar char="•"/>
            </a:pPr>
            <a:r>
              <a:rPr lang="en-US" sz="1250" dirty="0">
                <a:solidFill>
                  <a:srgbClr val="1B2733"/>
                </a:solidFill>
              </a:rPr>
              <a:t>The three dry classes are split by cloud thresholds and get confused</a:t>
            </a:r>
            <a:endParaRPr lang="en-US" sz="1250" dirty="0"/>
          </a:p>
          <a:p>
            <a:pPr marL="177800" indent="-177800">
              <a:spcAft>
                <a:spcPts val="600"/>
              </a:spcAft>
              <a:buSzPct val="100000"/>
              <a:buChar char="•"/>
            </a:pPr>
            <a:r>
              <a:rPr lang="en-US" sz="1250" dirty="0">
                <a:solidFill>
                  <a:srgbClr val="1B2733"/>
                </a:solidFill>
              </a:rPr>
              <a:t>Recall of Clear rises from 0.49 to 0.63</a:t>
            </a:r>
            <a:endParaRPr lang="en-US" sz="1250" dirty="0"/>
          </a:p>
          <a:p>
            <a:pPr marL="177800" indent="-177800">
              <a:spcAft>
                <a:spcPts val="600"/>
              </a:spcAft>
              <a:buSzPct val="100000"/>
              <a:buChar char="•"/>
            </a:pPr>
            <a:r>
              <a:rPr lang="en-US" sz="1250" dirty="0">
                <a:solidFill>
                  <a:srgbClr val="1B2733"/>
                </a:solidFill>
              </a:rPr>
              <a:t>Brier score 37% better than climatology</a:t>
            </a:r>
            <a:endParaRPr lang="en-US" sz="1250" dirty="0"/>
          </a:p>
        </p:txBody>
      </p:sp>
      <p:pic>
        <p:nvPicPr>
          <p:cNvPr id="9" name="confusion" descr="/Users/thiagohonoratoferreira/Desktop/project_update/figures/clf_confusion_matrices.png">    </p:cNvPr>
          <p:cNvPicPr>
            <a:picLocks noChangeAspect="1"/>
          </p:cNvPicPr>
          <p:nvPr/>
        </p:nvPicPr>
        <p:blipFill>
          <a:blip r:embed="rId1"/>
          <a:stretch>
            <a:fillRect/>
          </a:stretch>
        </p:blipFill>
        <p:spPr>
          <a:xfrm>
            <a:off x="4114800" y="1371600"/>
            <a:ext cx="4480560" cy="1917227"/>
          </a:xfrm>
          <a:prstGeom prst="rect">
            <a:avLst/>
          </a:prstGeom>
        </p:spPr>
      </p:pic>
      <p:sp>
        <p:nvSpPr>
          <p:cNvPr id="10" name="Text 7"/>
          <p:cNvSpPr txBox="1"/>
          <p:nvPr/>
        </p:nvSpPr>
        <p:spPr>
          <a:xfrm>
            <a:off x="4114800" y="3383280"/>
            <a:ext cx="4480560" cy="274320"/>
          </a:xfrm>
          <a:prstGeom prst="rect">
            <a:avLst/>
          </a:prstGeom>
          <a:noFill/>
          <a:ln/>
        </p:spPr>
        <p:txBody>
          <a:bodyPr wrap="square" lIns="0" tIns="0" rIns="0" bIns="0" rtlCol="0" anchor="t"/>
          <a:lstStyle/>
          <a:p>
            <a:pPr indent="0" marL="0">
              <a:buNone/>
            </a:pPr>
            <a:r>
              <a:rPr lang="en-US" sz="1000" i="1" dirty="0">
                <a:solidFill>
                  <a:srgbClr val="667788"/>
                </a:solidFill>
              </a:rPr>
              <a:t>Row-normalised test confusion matrices: persistence (left), final ensemble (right)</a:t>
            </a:r>
            <a:endParaRPr lang="en-US" sz="1000" dirty="0"/>
          </a:p>
        </p:txBody>
      </p:sp>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AB5C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5486400" cy="228600"/>
          </a:xfrm>
          <a:prstGeom prst="rect">
            <a:avLst/>
          </a:prstGeom>
          <a:noFill/>
          <a:ln/>
        </p:spPr>
        <p:txBody>
          <a:bodyPr wrap="square" lIns="0" tIns="0" rIns="0" bIns="0" rtlCol="0" anchor="t"/>
          <a:lstStyle/>
          <a:p>
            <a:pPr indent="0" marL="0">
              <a:buNone/>
            </a:pPr>
            <a:r>
              <a:rPr lang="en-US" sz="1000" b="1" spc="300" kern="0" dirty="0">
                <a:solidFill>
                  <a:srgbClr val="2A78D6"/>
                </a:solidFill>
              </a:rPr>
              <a:t>DISCUSSION</a:t>
            </a:r>
            <a:endParaRPr lang="en-US" sz="1000" dirty="0"/>
          </a:p>
        </p:txBody>
      </p:sp>
      <p:sp>
        <p:nvSpPr>
          <p:cNvPr id="3"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600" b="1" dirty="0">
                <a:solidFill>
                  <a:srgbClr val="0B2239"/>
                </a:solidFill>
              </a:rPr>
              <a:t>What made the difference</a:t>
            </a:r>
            <a:endParaRPr lang="en-US" sz="2600" dirty="0"/>
          </a:p>
        </p:txBody>
      </p:sp>
      <p:sp>
        <p:nvSpPr>
          <p:cNvPr id="4" name="Text 2"/>
          <p:cNvSpPr txBox="1"/>
          <p:nvPr/>
        </p:nvSpPr>
        <p:spPr>
          <a:xfrm>
            <a:off x="548640" y="1325880"/>
            <a:ext cx="502920" cy="320040"/>
          </a:xfrm>
          <a:prstGeom prst="rect">
            <a:avLst/>
          </a:prstGeom>
          <a:noFill/>
          <a:ln/>
        </p:spPr>
        <p:txBody>
          <a:bodyPr wrap="square" lIns="0" tIns="0" rIns="0" bIns="0" rtlCol="0" anchor="t"/>
          <a:lstStyle/>
          <a:p>
            <a:pPr indent="0" marL="0">
              <a:buNone/>
            </a:pPr>
            <a:r>
              <a:rPr lang="en-US" sz="1600" b="1" dirty="0">
                <a:solidFill>
                  <a:srgbClr val="2A78D6"/>
                </a:solidFill>
              </a:rPr>
              <a:t>01</a:t>
            </a:r>
            <a:endParaRPr lang="en-US" sz="1600" dirty="0"/>
          </a:p>
        </p:txBody>
      </p:sp>
      <p:sp>
        <p:nvSpPr>
          <p:cNvPr id="5" name="Text 3"/>
          <p:cNvSpPr txBox="1"/>
          <p:nvPr/>
        </p:nvSpPr>
        <p:spPr>
          <a:xfrm>
            <a:off x="1051560" y="1325880"/>
            <a:ext cx="3291840" cy="320040"/>
          </a:xfrm>
          <a:prstGeom prst="rect">
            <a:avLst/>
          </a:prstGeom>
          <a:noFill/>
          <a:ln/>
        </p:spPr>
        <p:txBody>
          <a:bodyPr wrap="square" lIns="0" tIns="0" rIns="0" bIns="0" rtlCol="0" anchor="t"/>
          <a:lstStyle/>
          <a:p>
            <a:pPr indent="0" marL="0">
              <a:buNone/>
            </a:pPr>
            <a:r>
              <a:rPr lang="en-US" sz="1500" b="1" dirty="0">
                <a:solidFill>
                  <a:srgbClr val="0B2239"/>
                </a:solidFill>
              </a:rPr>
              <a:t>Model diversity</a:t>
            </a:r>
            <a:endParaRPr lang="en-US" sz="1500" dirty="0"/>
          </a:p>
        </p:txBody>
      </p:sp>
      <p:sp>
        <p:nvSpPr>
          <p:cNvPr id="6" name="Text 4"/>
          <p:cNvSpPr txBox="1"/>
          <p:nvPr/>
        </p:nvSpPr>
        <p:spPr>
          <a:xfrm>
            <a:off x="1051560" y="1673352"/>
            <a:ext cx="3291840" cy="640080"/>
          </a:xfrm>
          <a:prstGeom prst="rect">
            <a:avLst/>
          </a:prstGeom>
          <a:noFill/>
          <a:ln/>
        </p:spPr>
        <p:txBody>
          <a:bodyPr wrap="square" lIns="0" tIns="0" rIns="0" bIns="0" rtlCol="0" anchor="t"/>
          <a:lstStyle/>
          <a:p>
            <a:pPr indent="0" marL="0">
              <a:buNone/>
            </a:pPr>
            <a:r>
              <a:rPr lang="en-US" sz="1200" dirty="0">
                <a:solidFill>
                  <a:srgbClr val="667788"/>
                </a:solidFill>
              </a:rPr>
              <a:t>Gradient boosting and extra trees were not in our first three models, yet won. Tmax test MAE: 1.27 → 1.22 °C.</a:t>
            </a:r>
            <a:endParaRPr lang="en-US" sz="1200" dirty="0"/>
          </a:p>
        </p:txBody>
      </p:sp>
      <p:sp>
        <p:nvSpPr>
          <p:cNvPr id="7" name="Text 5"/>
          <p:cNvSpPr txBox="1"/>
          <p:nvPr/>
        </p:nvSpPr>
        <p:spPr>
          <a:xfrm>
            <a:off x="548640" y="2404872"/>
            <a:ext cx="502920" cy="320040"/>
          </a:xfrm>
          <a:prstGeom prst="rect">
            <a:avLst/>
          </a:prstGeom>
          <a:noFill/>
          <a:ln/>
        </p:spPr>
        <p:txBody>
          <a:bodyPr wrap="square" lIns="0" tIns="0" rIns="0" bIns="0" rtlCol="0" anchor="t"/>
          <a:lstStyle/>
          <a:p>
            <a:pPr indent="0" marL="0">
              <a:buNone/>
            </a:pPr>
            <a:r>
              <a:rPr lang="en-US" sz="1600" b="1" dirty="0">
                <a:solidFill>
                  <a:srgbClr val="2A78D6"/>
                </a:solidFill>
              </a:rPr>
              <a:t>02</a:t>
            </a:r>
            <a:endParaRPr lang="en-US" sz="1600" dirty="0"/>
          </a:p>
        </p:txBody>
      </p:sp>
      <p:sp>
        <p:nvSpPr>
          <p:cNvPr id="8" name="Text 6"/>
          <p:cNvSpPr txBox="1"/>
          <p:nvPr/>
        </p:nvSpPr>
        <p:spPr>
          <a:xfrm>
            <a:off x="1051560" y="2404872"/>
            <a:ext cx="3291840" cy="320040"/>
          </a:xfrm>
          <a:prstGeom prst="rect">
            <a:avLst/>
          </a:prstGeom>
          <a:noFill/>
          <a:ln/>
        </p:spPr>
        <p:txBody>
          <a:bodyPr wrap="square" lIns="0" tIns="0" rIns="0" bIns="0" rtlCol="0" anchor="t"/>
          <a:lstStyle/>
          <a:p>
            <a:pPr indent="0" marL="0">
              <a:buNone/>
            </a:pPr>
            <a:r>
              <a:rPr lang="en-US" sz="1500" b="1" dirty="0">
                <a:solidFill>
                  <a:srgbClr val="0B2239"/>
                </a:solidFill>
              </a:rPr>
              <a:t>Ensembles over tuning</a:t>
            </a:r>
            <a:endParaRPr lang="en-US" sz="1500" dirty="0"/>
          </a:p>
        </p:txBody>
      </p:sp>
      <p:sp>
        <p:nvSpPr>
          <p:cNvPr id="9" name="Text 7"/>
          <p:cNvSpPr txBox="1"/>
          <p:nvPr/>
        </p:nvSpPr>
        <p:spPr>
          <a:xfrm>
            <a:off x="1051560" y="2752344"/>
            <a:ext cx="3291840" cy="640080"/>
          </a:xfrm>
          <a:prstGeom prst="rect">
            <a:avLst/>
          </a:prstGeom>
          <a:noFill/>
          <a:ln/>
        </p:spPr>
        <p:txBody>
          <a:bodyPr wrap="square" lIns="0" tIns="0" rIns="0" bIns="0" rtlCol="0" anchor="t"/>
          <a:lstStyle/>
          <a:p>
            <a:pPr indent="0" marL="0">
              <a:buNone/>
            </a:pPr>
            <a:r>
              <a:rPr lang="en-US" sz="1200" dirty="0">
                <a:solidFill>
                  <a:srgbClr val="667788"/>
                </a:solidFill>
              </a:rPr>
              <a:t>Averaging different families helped; grid search barely moved the scores.</a:t>
            </a:r>
            <a:endParaRPr lang="en-US" sz="1200" dirty="0"/>
          </a:p>
        </p:txBody>
      </p:sp>
      <p:sp>
        <p:nvSpPr>
          <p:cNvPr id="10" name="Text 8"/>
          <p:cNvSpPr txBox="1"/>
          <p:nvPr/>
        </p:nvSpPr>
        <p:spPr>
          <a:xfrm>
            <a:off x="548640" y="3483864"/>
            <a:ext cx="502920" cy="320040"/>
          </a:xfrm>
          <a:prstGeom prst="rect">
            <a:avLst/>
          </a:prstGeom>
          <a:noFill/>
          <a:ln/>
        </p:spPr>
        <p:txBody>
          <a:bodyPr wrap="square" lIns="0" tIns="0" rIns="0" bIns="0" rtlCol="0" anchor="t"/>
          <a:lstStyle/>
          <a:p>
            <a:pPr indent="0" marL="0">
              <a:buNone/>
            </a:pPr>
            <a:r>
              <a:rPr lang="en-US" sz="1600" b="1" dirty="0">
                <a:solidFill>
                  <a:srgbClr val="2A78D6"/>
                </a:solidFill>
              </a:rPr>
              <a:t>03</a:t>
            </a:r>
            <a:endParaRPr lang="en-US" sz="1600" dirty="0"/>
          </a:p>
        </p:txBody>
      </p:sp>
      <p:sp>
        <p:nvSpPr>
          <p:cNvPr id="11" name="Text 9"/>
          <p:cNvSpPr txBox="1"/>
          <p:nvPr/>
        </p:nvSpPr>
        <p:spPr>
          <a:xfrm>
            <a:off x="1051560" y="3483864"/>
            <a:ext cx="3291840" cy="320040"/>
          </a:xfrm>
          <a:prstGeom prst="rect">
            <a:avLst/>
          </a:prstGeom>
          <a:noFill/>
          <a:ln/>
        </p:spPr>
        <p:txBody>
          <a:bodyPr wrap="square" lIns="0" tIns="0" rIns="0" bIns="0" rtlCol="0" anchor="t"/>
          <a:lstStyle/>
          <a:p>
            <a:pPr indent="0" marL="0">
              <a:buNone/>
            </a:pPr>
            <a:r>
              <a:rPr lang="en-US" sz="1500" b="1" dirty="0">
                <a:solidFill>
                  <a:srgbClr val="0B2239"/>
                </a:solidFill>
              </a:rPr>
              <a:t>Features carry the signal</a:t>
            </a:r>
            <a:endParaRPr lang="en-US" sz="1500" dirty="0"/>
          </a:p>
        </p:txBody>
      </p:sp>
      <p:sp>
        <p:nvSpPr>
          <p:cNvPr id="12" name="Text 10"/>
          <p:cNvSpPr txBox="1"/>
          <p:nvPr/>
        </p:nvSpPr>
        <p:spPr>
          <a:xfrm>
            <a:off x="1051560" y="3831336"/>
            <a:ext cx="3291840" cy="640080"/>
          </a:xfrm>
          <a:prstGeom prst="rect">
            <a:avLst/>
          </a:prstGeom>
          <a:noFill/>
          <a:ln/>
        </p:spPr>
        <p:txBody>
          <a:bodyPr wrap="square" lIns="0" tIns="0" rIns="0" bIns="0" rtlCol="0" anchor="t"/>
          <a:lstStyle/>
          <a:p>
            <a:pPr indent="0" marL="0">
              <a:buNone/>
            </a:pPr>
            <a:r>
              <a:rPr lang="en-US" sz="1200" dirty="0">
                <a:solidFill>
                  <a:srgbClr val="667788"/>
                </a:solidFill>
              </a:rPr>
              <a:t>Today's values, rolling means and seasonality dominate the importance.</a:t>
            </a:r>
            <a:endParaRPr lang="en-US" sz="1200" dirty="0"/>
          </a:p>
        </p:txBody>
      </p:sp>
      <p:sp>
        <p:nvSpPr>
          <p:cNvPr id="13" name="limits"/>
          <p:cNvSpPr/>
          <p:nvPr/>
        </p:nvSpPr>
        <p:spPr>
          <a:xfrm>
            <a:off x="4754880" y="1325880"/>
            <a:ext cx="3840480" cy="3154680"/>
          </a:xfrm>
          <a:prstGeom prst="roundRect">
            <a:avLst>
              <a:gd name="adj" fmla="val 1739"/>
            </a:avLst>
          </a:prstGeom>
          <a:solidFill>
            <a:srgbClr val="F4F7FA"/>
          </a:solidFill>
          <a:ln w="12700">
            <a:solidFill>
              <a:srgbClr val="E2E8EE"/>
            </a:solidFill>
            <a:prstDash val="solid"/>
          </a:ln>
        </p:spPr>
      </p:sp>
      <p:sp>
        <p:nvSpPr>
          <p:cNvPr id="14" name="Text 12"/>
          <p:cNvSpPr txBox="1"/>
          <p:nvPr/>
        </p:nvSpPr>
        <p:spPr>
          <a:xfrm>
            <a:off x="4983480" y="1508760"/>
            <a:ext cx="3474720" cy="274320"/>
          </a:xfrm>
          <a:prstGeom prst="rect">
            <a:avLst/>
          </a:prstGeom>
          <a:noFill/>
          <a:ln/>
        </p:spPr>
        <p:txBody>
          <a:bodyPr wrap="square" lIns="0" tIns="0" rIns="0" bIns="0" rtlCol="0" anchor="t"/>
          <a:lstStyle/>
          <a:p>
            <a:pPr indent="0" marL="0">
              <a:buNone/>
            </a:pPr>
            <a:r>
              <a:rPr lang="en-US" sz="1400" b="1" dirty="0">
                <a:solidFill>
                  <a:srgbClr val="0B2239"/>
                </a:solidFill>
              </a:rPr>
              <a:t>Limitations and responsible use</a:t>
            </a:r>
            <a:endParaRPr lang="en-US" sz="1400" dirty="0"/>
          </a:p>
        </p:txBody>
      </p:sp>
      <p:sp>
        <p:nvSpPr>
          <p:cNvPr id="15" name="Text 13"/>
          <p:cNvSpPr txBox="1"/>
          <p:nvPr/>
        </p:nvSpPr>
        <p:spPr>
          <a:xfrm>
            <a:off x="4983480" y="1920240"/>
            <a:ext cx="3429000" cy="24688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733"/>
                </a:solidFill>
              </a:rPr>
              <a:t>One grid point: approaching typhoons and fronts are invisible</a:t>
            </a:r>
            <a:endParaRPr lang="en-US" sz="1250" dirty="0"/>
          </a:p>
          <a:p>
            <a:pPr marL="177800" indent="-177800">
              <a:spcAft>
                <a:spcPts val="600"/>
              </a:spcAft>
              <a:buSzPct val="100000"/>
              <a:buChar char="•"/>
            </a:pPr>
            <a:r>
              <a:rPr lang="en-US" sz="1250" dirty="0">
                <a:solidFill>
                  <a:srgbClr val="1B2733"/>
                </a:solidFill>
              </a:rPr>
              <a:t>Classes depend on our thresholds (1 mm, 30%, 70%)</a:t>
            </a:r>
            <a:endParaRPr lang="en-US" sz="1250" dirty="0"/>
          </a:p>
          <a:p>
            <a:pPr marL="177800" indent="-177800">
              <a:spcAft>
                <a:spcPts val="600"/>
              </a:spcAft>
              <a:buSzPct val="100000"/>
              <a:buChar char="•"/>
            </a:pPr>
            <a:r>
              <a:rPr lang="en-US" sz="1250" dirty="0">
                <a:solidFill>
                  <a:srgbClr val="1B2733"/>
                </a:solidFill>
              </a:rPr>
              <a:t>Only two test years</a:t>
            </a:r>
            <a:endParaRPr lang="en-US" sz="1250" dirty="0"/>
          </a:p>
          <a:p>
            <a:pPr marL="177800" indent="-177800">
              <a:spcAft>
                <a:spcPts val="600"/>
              </a:spcAft>
              <a:buSzPct val="100000"/>
              <a:buChar char="•"/>
            </a:pPr>
            <a:r>
              <a:rPr lang="en-US" sz="1250" dirty="0">
                <a:solidFill>
                  <a:srgbClr val="1B2733"/>
                </a:solidFill>
              </a:rPr>
              <a:t>Always report uncertainty (about ±1 °C, rain as a probability)</a:t>
            </a:r>
            <a:endParaRPr lang="en-US" sz="1250" dirty="0"/>
          </a:p>
          <a:p>
            <a:pPr marL="177800" indent="-177800">
              <a:spcAft>
                <a:spcPts val="600"/>
              </a:spcAft>
              <a:buSzPct val="100000"/>
              <a:buChar char="•"/>
            </a:pPr>
            <a:r>
              <a:rPr lang="en-US" sz="1250" dirty="0">
                <a:solidFill>
                  <a:srgbClr val="1B2733"/>
                </a:solidFill>
              </a:rPr>
              <a:t>Never a substitute for SMG warnings</a:t>
            </a:r>
            <a:endParaRPr lang="en-US" sz="1250" dirty="0"/>
          </a:p>
        </p:txBody>
      </p:sp>
      <p:sp>
        <p:nvSpPr>
          <p:cNvPr id="25" name="Slide Number Placeholder 0"/>
          <p:cNvSpPr>
            <a:spLocks noGrp="1"/>
          </p:cNvSpPr>
          <p:nvPr>
            <p:ph type="sldNum" sz="quarter" idx="4294967295"/>
          </p:nvPr>
        </p:nvSpPr>
        <p:spPr>
          <a:xfrm>
            <a:off x="8229600" y="473659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AB5C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1051560"/>
            <a:ext cx="5486400" cy="274320"/>
          </a:xfrm>
          <a:prstGeom prst="rect">
            <a:avLst/>
          </a:prstGeom>
          <a:noFill/>
          <a:ln/>
        </p:spPr>
        <p:txBody>
          <a:bodyPr wrap="square" lIns="0" tIns="0" rIns="0" bIns="0" rtlCol="0" anchor="t"/>
          <a:lstStyle/>
          <a:p>
            <a:pPr indent="0" marL="0">
              <a:buNone/>
            </a:pPr>
            <a:r>
              <a:rPr lang="en-US" sz="1100" b="1" spc="300" kern="0" dirty="0">
                <a:solidFill>
                  <a:srgbClr val="A9C8EE"/>
                </a:solidFill>
              </a:rPr>
              <a:t>CONCLUSION</a:t>
            </a:r>
            <a:endParaRPr lang="en-US" sz="1100" dirty="0"/>
          </a:p>
        </p:txBody>
      </p:sp>
      <p:sp>
        <p:nvSpPr>
          <p:cNvPr id="3" name="Text 0"/>
          <p:cNvSpPr/>
          <p:nvPr>
            <p:ph idx="100" type="title" hasCustomPrompt="1"/>
          </p:nvPr>
        </p:nvSpPr>
        <p:spPr>
          <a:xfrm>
            <a:off x="640080" y="1417320"/>
            <a:ext cx="6035040" cy="1371600"/>
          </a:xfrm>
          <a:prstGeom prst="rect">
            <a:avLst/>
          </a:prstGeom>
          <a:noFill/>
          <a:ln/>
        </p:spPr>
        <p:txBody>
          <a:bodyPr wrap="square" lIns="0" tIns="0" rIns="0" bIns="0" rtlCol="0" anchor="b"/>
          <a:lstStyle/>
          <a:p>
            <a:pPr algn="l" indent="0" marL="0">
              <a:buNone/>
            </a:pPr>
            <a:r>
              <a:rPr lang="en-US" sz="4000" b="1" dirty="0">
                <a:solidFill>
                  <a:srgbClr val="FFFFFF"/>
                </a:solidFill>
              </a:rPr>
              <a:t>Good features and diverse models beat complexity</a:t>
            </a:r>
            <a:endParaRPr lang="en-US" sz="4000" dirty="0"/>
          </a:p>
        </p:txBody>
      </p:sp>
      <p:sp>
        <p:nvSpPr>
          <p:cNvPr id="4" name="Text 0"/>
          <p:cNvSpPr/>
          <p:nvPr>
            <p:ph idx="101" type="body" hasCustomPrompt="1"/>
          </p:nvPr>
        </p:nvSpPr>
        <p:spPr>
          <a:xfrm>
            <a:off x="640080" y="2926080"/>
            <a:ext cx="5669280" cy="731520"/>
          </a:xfrm>
          <a:prstGeom prst="rect">
            <a:avLst/>
          </a:prstGeom>
          <a:noFill/>
          <a:ln/>
        </p:spPr>
        <p:txBody>
          <a:bodyPr wrap="square" lIns="0" tIns="0" rIns="0" bIns="0" rtlCol="0" anchor="t"/>
          <a:lstStyle/>
          <a:p>
            <a:pPr algn="l" indent="0" marL="0">
              <a:buNone/>
            </a:pPr>
            <a:r>
              <a:rPr lang="en-US" sz="1600" dirty="0">
                <a:solidFill>
                  <a:srgbClr val="B8C7D6"/>
                </a:solidFill>
              </a:rPr>
              <a:t>A simple baseline is hard to beat in daily weather. We beat it clearly for temperature and report honestly where we did not.</a:t>
            </a:r>
            <a:endParaRPr lang="en-US" sz="1600" dirty="0"/>
          </a:p>
        </p:txBody>
      </p:sp>
      <p:sp>
        <p:nvSpPr>
          <p:cNvPr id="5" name="end-rule"/>
          <p:cNvSpPr/>
          <p:nvPr/>
        </p:nvSpPr>
        <p:spPr>
          <a:xfrm>
            <a:off x="640080" y="3794760"/>
            <a:ext cx="7863840" cy="0"/>
          </a:xfrm>
          <a:prstGeom prst="line">
            <a:avLst/>
          </a:prstGeom>
          <a:noFill/>
          <a:ln w="12700">
            <a:solidFill>
              <a:srgbClr val="23405F"/>
            </a:solidFill>
            <a:prstDash val="solid"/>
          </a:ln>
        </p:spPr>
      </p:sp>
      <p:sp>
        <p:nvSpPr>
          <p:cNvPr id="6" name="Text 4"/>
          <p:cNvSpPr txBox="1"/>
          <p:nvPr/>
        </p:nvSpPr>
        <p:spPr>
          <a:xfrm>
            <a:off x="640080" y="3931920"/>
            <a:ext cx="1828800" cy="457200"/>
          </a:xfrm>
          <a:prstGeom prst="rect">
            <a:avLst/>
          </a:prstGeom>
          <a:noFill/>
          <a:ln/>
        </p:spPr>
        <p:txBody>
          <a:bodyPr wrap="square" lIns="0" tIns="0" rIns="0" bIns="0" rtlCol="0" anchor="b"/>
          <a:lstStyle/>
          <a:p>
            <a:pPr indent="0" marL="0">
              <a:buNone/>
            </a:pPr>
            <a:r>
              <a:rPr lang="en-US" sz="2600" b="1" dirty="0">
                <a:solidFill>
                  <a:srgbClr val="FFFFFF"/>
                </a:solidFill>
              </a:rPr>
              <a:t>−19%</a:t>
            </a:r>
            <a:endParaRPr lang="en-US" sz="2600" dirty="0"/>
          </a:p>
        </p:txBody>
      </p:sp>
      <p:sp>
        <p:nvSpPr>
          <p:cNvPr id="7" name="Text 5"/>
          <p:cNvSpPr txBox="1"/>
          <p:nvPr/>
        </p:nvSpPr>
        <p:spPr>
          <a:xfrm>
            <a:off x="640080" y="4434840"/>
            <a:ext cx="1828800" cy="274320"/>
          </a:xfrm>
          <a:prstGeom prst="rect">
            <a:avLst/>
          </a:prstGeom>
          <a:noFill/>
          <a:ln/>
        </p:spPr>
        <p:txBody>
          <a:bodyPr wrap="square" lIns="0" tIns="0" rIns="0" bIns="0" rtlCol="0" anchor="t"/>
          <a:lstStyle/>
          <a:p>
            <a:pPr indent="0" marL="0">
              <a:buNone/>
            </a:pPr>
            <a:r>
              <a:rPr lang="en-US" sz="1100" dirty="0">
                <a:solidFill>
                  <a:srgbClr val="8EA3B8"/>
                </a:solidFill>
              </a:rPr>
              <a:t>Tmax error</a:t>
            </a:r>
            <a:endParaRPr lang="en-US" sz="1100" dirty="0"/>
          </a:p>
        </p:txBody>
      </p:sp>
      <p:sp>
        <p:nvSpPr>
          <p:cNvPr id="8" name="Text 6"/>
          <p:cNvSpPr txBox="1"/>
          <p:nvPr/>
        </p:nvSpPr>
        <p:spPr>
          <a:xfrm>
            <a:off x="2651760" y="3931920"/>
            <a:ext cx="1828800" cy="457200"/>
          </a:xfrm>
          <a:prstGeom prst="rect">
            <a:avLst/>
          </a:prstGeom>
          <a:noFill/>
          <a:ln/>
        </p:spPr>
        <p:txBody>
          <a:bodyPr wrap="square" lIns="0" tIns="0" rIns="0" bIns="0" rtlCol="0" anchor="b"/>
          <a:lstStyle/>
          <a:p>
            <a:pPr indent="0" marL="0">
              <a:buNone/>
            </a:pPr>
            <a:r>
              <a:rPr lang="en-US" sz="2600" b="1" dirty="0">
                <a:solidFill>
                  <a:srgbClr val="FFFFFF"/>
                </a:solidFill>
              </a:rPr>
              <a:t>−11%</a:t>
            </a:r>
            <a:endParaRPr lang="en-US" sz="2600" dirty="0"/>
          </a:p>
        </p:txBody>
      </p:sp>
      <p:sp>
        <p:nvSpPr>
          <p:cNvPr id="9" name="Text 7"/>
          <p:cNvSpPr txBox="1"/>
          <p:nvPr/>
        </p:nvSpPr>
        <p:spPr>
          <a:xfrm>
            <a:off x="2651760" y="4434840"/>
            <a:ext cx="1828800" cy="274320"/>
          </a:xfrm>
          <a:prstGeom prst="rect">
            <a:avLst/>
          </a:prstGeom>
          <a:noFill/>
          <a:ln/>
        </p:spPr>
        <p:txBody>
          <a:bodyPr wrap="square" lIns="0" tIns="0" rIns="0" bIns="0" rtlCol="0" anchor="t"/>
          <a:lstStyle/>
          <a:p>
            <a:pPr indent="0" marL="0">
              <a:buNone/>
            </a:pPr>
            <a:r>
              <a:rPr lang="en-US" sz="1100" dirty="0">
                <a:solidFill>
                  <a:srgbClr val="8EA3B8"/>
                </a:solidFill>
              </a:rPr>
              <a:t>Tmin error</a:t>
            </a:r>
            <a:endParaRPr lang="en-US" sz="1100" dirty="0"/>
          </a:p>
        </p:txBody>
      </p:sp>
      <p:sp>
        <p:nvSpPr>
          <p:cNvPr id="10" name="Text 8"/>
          <p:cNvSpPr txBox="1"/>
          <p:nvPr/>
        </p:nvSpPr>
        <p:spPr>
          <a:xfrm>
            <a:off x="4663440" y="3931920"/>
            <a:ext cx="1828800" cy="457200"/>
          </a:xfrm>
          <a:prstGeom prst="rect">
            <a:avLst/>
          </a:prstGeom>
          <a:noFill/>
          <a:ln/>
        </p:spPr>
        <p:txBody>
          <a:bodyPr wrap="square" lIns="0" tIns="0" rIns="0" bIns="0" rtlCol="0" anchor="b"/>
          <a:lstStyle/>
          <a:p>
            <a:pPr indent="0" marL="0">
              <a:buNone/>
            </a:pPr>
            <a:r>
              <a:rPr lang="en-US" sz="2600" b="1" dirty="0">
                <a:solidFill>
                  <a:srgbClr val="FFFFFF"/>
                </a:solidFill>
              </a:rPr>
              <a:t>0.88</a:t>
            </a:r>
            <a:endParaRPr lang="en-US" sz="2600" dirty="0"/>
          </a:p>
        </p:txBody>
      </p:sp>
      <p:sp>
        <p:nvSpPr>
          <p:cNvPr id="11" name="Text 9"/>
          <p:cNvSpPr txBox="1"/>
          <p:nvPr/>
        </p:nvSpPr>
        <p:spPr>
          <a:xfrm>
            <a:off x="4663440" y="4434840"/>
            <a:ext cx="1828800" cy="274320"/>
          </a:xfrm>
          <a:prstGeom prst="rect">
            <a:avLst/>
          </a:prstGeom>
          <a:noFill/>
          <a:ln/>
        </p:spPr>
        <p:txBody>
          <a:bodyPr wrap="square" lIns="0" tIns="0" rIns="0" bIns="0" rtlCol="0" anchor="t"/>
          <a:lstStyle/>
          <a:p>
            <a:pPr indent="0" marL="0">
              <a:buNone/>
            </a:pPr>
            <a:r>
              <a:rPr lang="en-US" sz="1100" dirty="0">
                <a:solidFill>
                  <a:srgbClr val="8EA3B8"/>
                </a:solidFill>
              </a:rPr>
              <a:t>rain AUC</a:t>
            </a:r>
            <a:endParaRPr lang="en-US" sz="1100" dirty="0"/>
          </a:p>
        </p:txBody>
      </p:sp>
      <p:sp>
        <p:nvSpPr>
          <p:cNvPr id="12" name="Text 10"/>
          <p:cNvSpPr txBox="1"/>
          <p:nvPr/>
        </p:nvSpPr>
        <p:spPr>
          <a:xfrm>
            <a:off x="6675120" y="4069080"/>
            <a:ext cx="1828800" cy="457200"/>
          </a:xfrm>
          <a:prstGeom prst="rect">
            <a:avLst/>
          </a:prstGeom>
          <a:noFill/>
          <a:ln/>
        </p:spPr>
        <p:txBody>
          <a:bodyPr wrap="square" lIns="0" tIns="0" rIns="0" bIns="0" rtlCol="0" anchor="ctr"/>
          <a:lstStyle/>
          <a:p>
            <a:pPr algn="r" indent="0" marL="0">
              <a:buNone/>
            </a:pPr>
            <a:r>
              <a:rPr lang="en-US" sz="2200" b="1" dirty="0">
                <a:solidFill>
                  <a:srgbClr val="A9C8EE"/>
                </a:solidFill>
              </a:rPr>
              <a:t>Questions?</a:t>
            </a:r>
            <a:endParaRPr lang="en-US" sz="2200" dirty="0"/>
          </a:p>
        </p:txBody>
      </p:sp>
    </p:spTree>
  </p:cSld>
  <p:clrMapOvr>
    <a:masterClrMapping/>
  </p:clrMapOvr>
</p:sld>
</file>

<file path=ppt/theme/theme1.xml><?xml version="1.0" encoding="utf-8"?>
<a:theme xmlns:a="http://schemas.openxmlformats.org/drawingml/2006/main" name="Macau Weather Clean">
  <a:themeElements>
    <a:clrScheme name="Macau Weather Clean">
      <a:dk1>
        <a:srgbClr val="1B2733"/>
      </a:dk1>
      <a:lt1>
        <a:srgbClr val="FFFFFF"/>
      </a:lt1>
      <a:dk2>
        <a:srgbClr val="0B2239"/>
      </a:dk2>
      <a:lt2>
        <a:srgbClr val="F4F7FA"/>
      </a:lt2>
      <a:accent1>
        <a:srgbClr val="2A78D6"/>
      </a:accent1>
      <a:accent2>
        <a:srgbClr val="EB6834"/>
      </a:accent2>
      <a:accent3>
        <a:srgbClr val="1BAF7A"/>
      </a:accent3>
      <a:accent4>
        <a:srgbClr val="EDA100"/>
      </a:accent4>
      <a:accent5>
        <a:srgbClr val="667788"/>
      </a:accent5>
      <a:accent6>
        <a:srgbClr val="A9C8EE"/>
      </a:accent6>
      <a:hlink>
        <a:srgbClr val="2A78D6"/>
      </a:hlink>
      <a:folHlink>
        <a:srgbClr val="667788"/>
      </a:folHlink>
    </a:clrScheme>
    <a:fontScheme name="Macau Weather Clea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Next-Day Weather Prediction for Macau</dc:title>
  <dc:subject>PptxGenJS Presentation</dc:subject>
  <dc:creator>Thiago Honorato Ferreira, Marcelo Oliveira Volpato, João Vitor Konrad</dc:creator>
  <cp:lastModifiedBy>Thiago Honorato Ferreira, Marcelo Oliveira Volpato, João Vitor Konrad</cp:lastModifiedBy>
  <cp:revision>1</cp:revision>
  <dcterms:created xsi:type="dcterms:W3CDTF">2026-10-11T15:05:58Z</dcterms:created>
  <dcterms:modified xsi:type="dcterms:W3CDTF">2026-10-11T15:05:58Z</dcterms:modified>
</cp:coreProperties>
</file>